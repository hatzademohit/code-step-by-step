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E63E3-0623-6B0A-8AA9-59F053BDA6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0D85E5-AC40-EDF6-D0B8-A458DC3B32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5177E2-6CF2-2C19-4C54-44951DCFB6E5}"/>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5" name="Footer Placeholder 4">
            <a:extLst>
              <a:ext uri="{FF2B5EF4-FFF2-40B4-BE49-F238E27FC236}">
                <a16:creationId xmlns:a16="http://schemas.microsoft.com/office/drawing/2014/main" id="{FB3945A0-A370-0249-0EA5-5E70E2D5A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1447CB-8D83-B34B-27A9-EAC66CBCC779}"/>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1792680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54194-14E3-E948-60D2-2D8DEE73DB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ABBDDF-50BA-C738-3D36-243F7F1DF9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3F4BF4-5B14-4428-ACE7-0F98242E6432}"/>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5" name="Footer Placeholder 4">
            <a:extLst>
              <a:ext uri="{FF2B5EF4-FFF2-40B4-BE49-F238E27FC236}">
                <a16:creationId xmlns:a16="http://schemas.microsoft.com/office/drawing/2014/main" id="{1880E680-BBA7-005C-AC0A-C864E8305F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656916-30C8-AD34-26B5-753C5DA9BE5E}"/>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153559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82CD-E97A-DC09-B4B5-FD2190E80B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DEA162-A941-0747-BA90-7C9C87C107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191C6F-2118-F2B6-C412-62494FEEA544}"/>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5" name="Footer Placeholder 4">
            <a:extLst>
              <a:ext uri="{FF2B5EF4-FFF2-40B4-BE49-F238E27FC236}">
                <a16:creationId xmlns:a16="http://schemas.microsoft.com/office/drawing/2014/main" id="{E6DFBE6F-193F-9FDF-BFAF-AB3C05A54C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5C22CD-2FDF-D6CE-CA2C-D6A5020F28A2}"/>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3458684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3823-D1E7-B264-27C4-7DE580300B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396AA7-1A6E-4EB1-7770-C413F5BD08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2C3FBB-2828-3925-1EFD-5AB99E3FEF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0F1F4A-CA65-B273-8A76-19B2EE4CC004}"/>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6" name="Footer Placeholder 5">
            <a:extLst>
              <a:ext uri="{FF2B5EF4-FFF2-40B4-BE49-F238E27FC236}">
                <a16:creationId xmlns:a16="http://schemas.microsoft.com/office/drawing/2014/main" id="{9BD7DDFA-7539-9BBB-3AC6-3FE1CA8C9E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07EDB1-1072-DB7A-1BD2-E9DB335EDF22}"/>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491957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34FED-3785-C6EC-C80B-4E58A173F4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1EA3AC-3066-35F9-5CE1-3A33C15EE0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1926A-884B-CB4B-10C0-829CC9EAB9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BB272C-F4EE-BE49-EB06-B4E4B8AB6F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A380F6-7C32-E8A7-3E78-7118EBB122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EF3609B-1EB1-298C-BD8E-AAE2C950B2D3}"/>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8" name="Footer Placeholder 7">
            <a:extLst>
              <a:ext uri="{FF2B5EF4-FFF2-40B4-BE49-F238E27FC236}">
                <a16:creationId xmlns:a16="http://schemas.microsoft.com/office/drawing/2014/main" id="{B7E039E0-B50D-2462-4A4E-8DF28D3AF8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65101F-9FA7-5B94-0D99-91C02252367D}"/>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3431943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2EE0F-BBEA-2026-2650-86B26BA14F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9CCB63-C44D-4663-386C-B0D91F177859}"/>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4" name="Footer Placeholder 3">
            <a:extLst>
              <a:ext uri="{FF2B5EF4-FFF2-40B4-BE49-F238E27FC236}">
                <a16:creationId xmlns:a16="http://schemas.microsoft.com/office/drawing/2014/main" id="{E0EF30AC-8A03-E506-216D-0430DD5F04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725F4C-23CA-DE42-7372-C5EB753C0F5C}"/>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3331782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79DE04-849D-B0D9-1762-8BE280B07064}"/>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3" name="Footer Placeholder 2">
            <a:extLst>
              <a:ext uri="{FF2B5EF4-FFF2-40B4-BE49-F238E27FC236}">
                <a16:creationId xmlns:a16="http://schemas.microsoft.com/office/drawing/2014/main" id="{075B2D89-C8C3-1567-65A0-777B0B8FA3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8A4D53B-B2DB-3D01-53FA-42EE33DFFE32}"/>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134229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9A3B-81F0-FF56-44F1-4C3F9678CE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50D305-C8D3-02B1-B67C-9E374E6352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3308BC-243B-B0FA-B3E9-4CF7C82F97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152DA9-2D72-427F-6A9A-ED2977FC0ECD}"/>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6" name="Footer Placeholder 5">
            <a:extLst>
              <a:ext uri="{FF2B5EF4-FFF2-40B4-BE49-F238E27FC236}">
                <a16:creationId xmlns:a16="http://schemas.microsoft.com/office/drawing/2014/main" id="{9343EF5A-B656-C8FD-5914-BC99413779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EBCC03-16F7-042C-665D-F434743FCF1C}"/>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1145510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9B151-B886-4EF1-BCE5-A9DFD1214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CD548D-58FC-3F68-D67F-6A2359292C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497380-9B23-DB68-BB47-61117C7DB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9C5A80-4EB7-EFCF-717C-F8810F9B858E}"/>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6" name="Footer Placeholder 5">
            <a:extLst>
              <a:ext uri="{FF2B5EF4-FFF2-40B4-BE49-F238E27FC236}">
                <a16:creationId xmlns:a16="http://schemas.microsoft.com/office/drawing/2014/main" id="{AA68074A-2AA2-AA8C-EF06-7D78EE9711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7FD4B4-F136-A6CE-FA36-DD53563C1372}"/>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2924946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E2D3-1C33-2B0B-FBE8-C4CB0CC331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A90653-D454-570F-3F51-68AD8A503B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A7CBD1-AADD-F2C3-0E5C-2EE380A32126}"/>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5" name="Footer Placeholder 4">
            <a:extLst>
              <a:ext uri="{FF2B5EF4-FFF2-40B4-BE49-F238E27FC236}">
                <a16:creationId xmlns:a16="http://schemas.microsoft.com/office/drawing/2014/main" id="{16C4286F-0850-C864-92F1-9C3E53D869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B9BBCA-5CCA-0B38-EF11-9AEEF4D1579F}"/>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1765808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302C30-AE9F-5F7B-4CFF-2EC055FF80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9306B9-CCF9-61C7-9FC9-360246F7F4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9B1135-B0B7-19FA-CAC3-50D5D26570E3}"/>
              </a:ext>
            </a:extLst>
          </p:cNvPr>
          <p:cNvSpPr>
            <a:spLocks noGrp="1"/>
          </p:cNvSpPr>
          <p:nvPr>
            <p:ph type="dt" sz="half" idx="10"/>
          </p:nvPr>
        </p:nvSpPr>
        <p:spPr/>
        <p:txBody>
          <a:bodyPr/>
          <a:lstStyle/>
          <a:p>
            <a:fld id="{C8E8FD03-638C-4F63-B824-A5D9A35617D5}" type="datetimeFigureOut">
              <a:rPr lang="en-IN" smtClean="0"/>
              <a:t>26-05-2024</a:t>
            </a:fld>
            <a:endParaRPr lang="en-IN"/>
          </a:p>
        </p:txBody>
      </p:sp>
      <p:sp>
        <p:nvSpPr>
          <p:cNvPr id="5" name="Footer Placeholder 4">
            <a:extLst>
              <a:ext uri="{FF2B5EF4-FFF2-40B4-BE49-F238E27FC236}">
                <a16:creationId xmlns:a16="http://schemas.microsoft.com/office/drawing/2014/main" id="{DDC2BD52-CE69-7D4F-7A7E-1809AA624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B5433D-C85B-B896-775C-19325C57E3DC}"/>
              </a:ext>
            </a:extLst>
          </p:cNvPr>
          <p:cNvSpPr>
            <a:spLocks noGrp="1"/>
          </p:cNvSpPr>
          <p:nvPr>
            <p:ph type="sldNum" sz="quarter" idx="12"/>
          </p:nvPr>
        </p:nvSpPr>
        <p:spPr/>
        <p:txBody>
          <a:bodyPr/>
          <a:lstStyle/>
          <a:p>
            <a:fld id="{D4C51850-095F-44F0-91D4-F061B8582072}" type="slidenum">
              <a:rPr lang="en-IN" smtClean="0"/>
              <a:t>‹#›</a:t>
            </a:fld>
            <a:endParaRPr lang="en-IN"/>
          </a:p>
        </p:txBody>
      </p:sp>
    </p:spTree>
    <p:extLst>
      <p:ext uri="{BB962C8B-B14F-4D97-AF65-F5344CB8AC3E}">
        <p14:creationId xmlns:p14="http://schemas.microsoft.com/office/powerpoint/2010/main" val="3928150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4CF610-93ED-BB6C-CC61-8ACD303D23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1C3EA0-56FC-B020-2A74-103EAA7EA6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235AF3-7DD0-8604-A67C-5CB12BECA5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E8FD03-638C-4F63-B824-A5D9A35617D5}" type="datetimeFigureOut">
              <a:rPr lang="en-IN" smtClean="0"/>
              <a:t>26-05-2024</a:t>
            </a:fld>
            <a:endParaRPr lang="en-IN"/>
          </a:p>
        </p:txBody>
      </p:sp>
      <p:sp>
        <p:nvSpPr>
          <p:cNvPr id="5" name="Footer Placeholder 4">
            <a:extLst>
              <a:ext uri="{FF2B5EF4-FFF2-40B4-BE49-F238E27FC236}">
                <a16:creationId xmlns:a16="http://schemas.microsoft.com/office/drawing/2014/main" id="{5AF575E7-2C7A-0914-E734-757A074C94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0940521-8C8E-DBEC-4676-A9EDC88B74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C51850-095F-44F0-91D4-F061B8582072}" type="slidenum">
              <a:rPr lang="en-IN" smtClean="0"/>
              <a:t>‹#›</a:t>
            </a:fld>
            <a:endParaRPr lang="en-IN"/>
          </a:p>
        </p:txBody>
      </p:sp>
    </p:spTree>
    <p:extLst>
      <p:ext uri="{BB962C8B-B14F-4D97-AF65-F5344CB8AC3E}">
        <p14:creationId xmlns:p14="http://schemas.microsoft.com/office/powerpoint/2010/main" val="2716392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EE0FC-E7B6-4E61-56A3-CB4FD0517800}"/>
              </a:ext>
            </a:extLst>
          </p:cNvPr>
          <p:cNvSpPr>
            <a:spLocks noGrp="1"/>
          </p:cNvSpPr>
          <p:nvPr>
            <p:ph type="ctrTitle"/>
          </p:nvPr>
        </p:nvSpPr>
        <p:spPr/>
        <p:txBody>
          <a:bodyPr/>
          <a:lstStyle/>
          <a:p>
            <a:r>
              <a:rPr lang="en-US" dirty="0"/>
              <a:t>Interview Practice</a:t>
            </a:r>
            <a:endParaRPr lang="en-IN" dirty="0"/>
          </a:p>
        </p:txBody>
      </p:sp>
      <p:sp>
        <p:nvSpPr>
          <p:cNvPr id="3" name="Subtitle 2">
            <a:extLst>
              <a:ext uri="{FF2B5EF4-FFF2-40B4-BE49-F238E27FC236}">
                <a16:creationId xmlns:a16="http://schemas.microsoft.com/office/drawing/2014/main" id="{010FAA26-4A1C-2343-AE3D-94EDB6A22AD3}"/>
              </a:ext>
            </a:extLst>
          </p:cNvPr>
          <p:cNvSpPr>
            <a:spLocks noGrp="1"/>
          </p:cNvSpPr>
          <p:nvPr>
            <p:ph type="subTitle" idx="1"/>
          </p:nvPr>
        </p:nvSpPr>
        <p:spPr/>
        <p:txBody>
          <a:bodyPr/>
          <a:lstStyle/>
          <a:p>
            <a:r>
              <a:rPr lang="en-US" dirty="0"/>
              <a:t>Just for a practice</a:t>
            </a:r>
            <a:endParaRPr lang="en-IN" dirty="0"/>
          </a:p>
        </p:txBody>
      </p:sp>
    </p:spTree>
    <p:extLst>
      <p:ext uri="{BB962C8B-B14F-4D97-AF65-F5344CB8AC3E}">
        <p14:creationId xmlns:p14="http://schemas.microsoft.com/office/powerpoint/2010/main" val="110128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E88D6F-5A4F-8384-00E5-318E4068C5FA}"/>
              </a:ext>
            </a:extLst>
          </p:cNvPr>
          <p:cNvSpPr>
            <a:spLocks noGrp="1"/>
          </p:cNvSpPr>
          <p:nvPr>
            <p:ph type="title"/>
          </p:nvPr>
        </p:nvSpPr>
        <p:spPr>
          <a:xfrm>
            <a:off x="166992" y="179962"/>
            <a:ext cx="11858016" cy="6498076"/>
          </a:xfrm>
        </p:spPr>
        <p:txBody>
          <a:bodyPr>
            <a:normAutofit/>
          </a:bodyPr>
          <a:lstStyle/>
          <a:p>
            <a:br>
              <a:rPr lang="en-US" sz="1600" dirty="0">
                <a:latin typeface="Avenir Next LT Pro" panose="020B0504020202020204" pitchFamily="34" charset="0"/>
              </a:rPr>
            </a:br>
            <a:r>
              <a:rPr lang="en-US" sz="1800" dirty="0">
                <a:highlight>
                  <a:srgbClr val="FFFF00"/>
                </a:highlight>
                <a:latin typeface="Avenir Next LT Pro" panose="020B0504020202020204" pitchFamily="34" charset="0"/>
              </a:rPr>
              <a:t>Que 1. Tell about your self?</a:t>
            </a:r>
            <a:br>
              <a:rPr lang="en-US" sz="1800" dirty="0">
                <a:latin typeface="Avenir Next LT Pro" panose="020B0504020202020204" pitchFamily="34" charset="0"/>
              </a:rPr>
            </a:br>
            <a:r>
              <a:rPr lang="en-US" sz="1800" dirty="0">
                <a:latin typeface="Avenir Next LT Pro" panose="020B0504020202020204" pitchFamily="34" charset="0"/>
              </a:rPr>
              <a:t>Ans: </a:t>
            </a:r>
            <a:r>
              <a:rPr lang="en-US" sz="1600" dirty="0">
                <a:latin typeface="Avenir Next LT Pro" panose="020B0504020202020204" pitchFamily="34" charset="0"/>
              </a:rPr>
              <a:t>sure I’d be happy to introduce my self, my name is </a:t>
            </a:r>
            <a:r>
              <a:rPr lang="en-US" sz="1600" dirty="0" err="1">
                <a:latin typeface="Avenir Next LT Pro" panose="020B0504020202020204" pitchFamily="34" charset="0"/>
              </a:rPr>
              <a:t>mohit</a:t>
            </a:r>
            <a:r>
              <a:rPr lang="en-US" sz="1600" dirty="0">
                <a:latin typeface="Avenir Next LT Pro" panose="020B0504020202020204" pitchFamily="34" charset="0"/>
              </a:rPr>
              <a:t> I am a frontend developer at </a:t>
            </a:r>
            <a:r>
              <a:rPr lang="en-US" sz="1600" dirty="0" err="1">
                <a:latin typeface="Avenir Next LT Pro" panose="020B0504020202020204" pitchFamily="34" charset="0"/>
              </a:rPr>
              <a:t>valethi</a:t>
            </a:r>
            <a:r>
              <a:rPr lang="en-US" sz="1600" dirty="0">
                <a:latin typeface="Avenir Next LT Pro" panose="020B0504020202020204" pitchFamily="34" charset="0"/>
              </a:rPr>
              <a:t> technologies at the date of 6th December 2021 to till date and working on HTML, CSS, JavaScript, jQuery, Bootstrap, Material UI, and react </a:t>
            </a:r>
            <a:r>
              <a:rPr lang="en-US" sz="1600" dirty="0" err="1">
                <a:latin typeface="Avenir Next LT Pro" panose="020B0504020202020204" pitchFamily="34" charset="0"/>
              </a:rPr>
              <a:t>js</a:t>
            </a:r>
            <a:r>
              <a:rPr lang="en-US" sz="1600" dirty="0">
                <a:latin typeface="Avenir Next LT Pro" panose="020B0504020202020204" pitchFamily="34" charset="0"/>
              </a:rPr>
              <a:t>. I have well knowledge in frontend developer and responsive web design </a:t>
            </a:r>
            <a:br>
              <a:rPr lang="en-US" sz="1600" dirty="0">
                <a:latin typeface="Avenir Next LT Pro" panose="020B0504020202020204" pitchFamily="34" charset="0"/>
              </a:rPr>
            </a:br>
            <a:r>
              <a:rPr lang="en-US" sz="1600" dirty="0">
                <a:latin typeface="Avenir Next LT Pro" panose="020B0504020202020204" pitchFamily="34" charset="0"/>
              </a:rPr>
              <a:t>thanks .</a:t>
            </a:r>
            <a:br>
              <a:rPr lang="en-US" sz="1600" dirty="0">
                <a:latin typeface="Avenir Next LT Pro" panose="020B0504020202020204" pitchFamily="34" charset="0"/>
              </a:rPr>
            </a:b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2. What is HTML?</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HTML is a Hyper text markup language it used for creating a web pages. </a:t>
            </a:r>
            <a:br>
              <a:rPr lang="en-US" sz="1600" dirty="0">
                <a:latin typeface="Avenir Next LT Pro" panose="020B0504020202020204" pitchFamily="34" charset="0"/>
              </a:rPr>
            </a:b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3. What is Semantic elements in HTML?</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Semantic tag is used to define the meaning of the content  they contain (like header, footer, section, p, table and like this.)</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4. What is non semantic elements in HTML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HTML tags that do not have specific meaning (like div, span, p and like this.)</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5. Difference between div and span?</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In HTML, the div and span tags are used for structuring and styling content </a:t>
            </a:r>
            <a:r>
              <a:rPr lang="en-US" sz="1500" b="1" i="0" kern="1200" spc="-50" baseline="0" dirty="0">
                <a:effectLst/>
                <a:latin typeface="Avenir Next LT Pro" panose="020B0504020202020204" pitchFamily="34" charset="0"/>
              </a:rPr>
              <a:t>div create block level container </a:t>
            </a:r>
            <a:r>
              <a:rPr lang="en-US" sz="1500" i="0" kern="1200" spc="-50" baseline="0" dirty="0">
                <a:effectLst/>
                <a:latin typeface="Avenir Next LT Pro" panose="020B0504020202020204" pitchFamily="34" charset="0"/>
              </a:rPr>
              <a:t>for grouping element, while </a:t>
            </a:r>
            <a:r>
              <a:rPr lang="en-US" sz="1500" b="1" i="0" kern="1200" spc="-50" baseline="0" dirty="0">
                <a:effectLst/>
                <a:latin typeface="Avenir Next LT Pro" panose="020B0504020202020204" pitchFamily="34" charset="0"/>
              </a:rPr>
              <a:t>span create inline container </a:t>
            </a:r>
            <a:r>
              <a:rPr lang="en-US" sz="1500" i="0" kern="1200" spc="-50" baseline="0" dirty="0">
                <a:effectLst/>
                <a:latin typeface="Avenir Next LT Pro" panose="020B0504020202020204" pitchFamily="34" charset="0"/>
              </a:rPr>
              <a:t>for styling specific portion</a:t>
            </a:r>
            <a:r>
              <a:rPr lang="en-US" sz="1500" spc="-50" dirty="0">
                <a:latin typeface="Avenir Next LT Pro" panose="020B0504020202020204" pitchFamily="34" charset="0"/>
              </a:rPr>
              <a:t>s of text or elements within a block level container</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6. What is attribute in HTML?</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Attribute provide additional information about HTML element (like src</a:t>
            </a:r>
            <a:r>
              <a:rPr lang="en-US" sz="1500" spc="-50" dirty="0">
                <a:latin typeface="Avenir Next LT Pro" panose="020B0504020202020204" pitchFamily="34" charset="0"/>
              </a:rPr>
              <a:t>, href, style, for and like this)</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7. How many type of attribute in HTML?</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spc="-50" dirty="0">
                <a:latin typeface="Avenir Next LT Pro" panose="020B0504020202020204" pitchFamily="34" charset="0"/>
              </a:rPr>
              <a:t>HTML attribute are generally classified as required attribute, optional attribute,  standard attribute and event attribute.</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8. Difference between div and span?</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DOCTYPE declaration is an instruction to the web browser about the what version of HTML the page is written.</a:t>
            </a:r>
            <a:endParaRPr lang="en-IN" sz="1500" dirty="0">
              <a:latin typeface="Avenir Next LT Pro" panose="020B0504020202020204" pitchFamily="34" charset="0"/>
            </a:endParaRPr>
          </a:p>
        </p:txBody>
      </p:sp>
    </p:spTree>
    <p:extLst>
      <p:ext uri="{BB962C8B-B14F-4D97-AF65-F5344CB8AC3E}">
        <p14:creationId xmlns:p14="http://schemas.microsoft.com/office/powerpoint/2010/main" val="3193665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E88D6F-5A4F-8384-00E5-318E4068C5FA}"/>
              </a:ext>
            </a:extLst>
          </p:cNvPr>
          <p:cNvSpPr>
            <a:spLocks noGrp="1"/>
          </p:cNvSpPr>
          <p:nvPr>
            <p:ph type="title"/>
          </p:nvPr>
        </p:nvSpPr>
        <p:spPr>
          <a:xfrm>
            <a:off x="155644" y="175099"/>
            <a:ext cx="11858016" cy="6498076"/>
          </a:xfrm>
        </p:spPr>
        <p:txBody>
          <a:bodyPr>
            <a:normAutofit/>
          </a:bodyPr>
          <a:lstStyle/>
          <a:p>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9. Tell about your self?</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The HTML document type declaration, also know as DOCTYPE, is the first line of code required in every HTML or XHTML document</a:t>
            </a:r>
            <a:br>
              <a:rPr lang="en-US" sz="1600" dirty="0">
                <a:latin typeface="Avenir Next LT Pro" panose="020B0504020202020204" pitchFamily="34" charset="0"/>
              </a:rPr>
            </a:b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10. What is head element in HTML?</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The head tag is an HTML element use to define the head section  of an HTML document. The head section contains metadata, which simply means data about.</a:t>
            </a:r>
            <a:br>
              <a:rPr lang="en-US" sz="1600" dirty="0">
                <a:latin typeface="Avenir Next LT Pro" panose="020B0504020202020204" pitchFamily="34" charset="0"/>
              </a:rPr>
            </a:b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11. What is CSS?</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CSS is a  language we use to style a web page. CSS stand for cascading style sheets</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12. Why we use CSS?</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CSS is used to define the styles for your web page, including the design, layout and variations is display for different devices and screen size.</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13. What is CSS flexbox layout?</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CSS flexbox layout is a one-dimensional layout method for arranging items within a containe</a:t>
            </a:r>
            <a:r>
              <a:rPr lang="en-US" sz="1500" spc="-50" dirty="0">
                <a:latin typeface="Avenir Next LT Pro" panose="020B0504020202020204" pitchFamily="34" charset="0"/>
              </a:rPr>
              <a:t>r along a single direction (row or column)</a:t>
            </a:r>
            <a:br>
              <a:rPr lang="en-US" sz="15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14. What is the difference between display inline and display inline block?</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600" b="1" i="0" kern="1200" spc="-50" baseline="0" dirty="0">
                <a:effectLst/>
                <a:latin typeface="Avenir Next LT Pro" panose="020B0504020202020204" pitchFamily="34" charset="0"/>
              </a:rPr>
              <a:t>I)</a:t>
            </a:r>
            <a:r>
              <a:rPr lang="en-US" sz="1600" i="0" kern="1200" spc="-50" baseline="0" dirty="0">
                <a:effectLst/>
                <a:latin typeface="Avenir Next LT Pro" panose="020B0504020202020204" pitchFamily="34" charset="0"/>
              </a:rPr>
              <a:t> Display </a:t>
            </a:r>
            <a:r>
              <a:rPr lang="en-US" sz="1600" spc="-50" dirty="0">
                <a:latin typeface="Avenir Next LT Pro" panose="020B0504020202020204" pitchFamily="34" charset="0"/>
              </a:rPr>
              <a:t>Inline</a:t>
            </a:r>
            <a:br>
              <a:rPr lang="en-US" sz="1600" spc="-50" dirty="0">
                <a:latin typeface="Avenir Next LT Pro" panose="020B0504020202020204" pitchFamily="34" charset="0"/>
              </a:rPr>
            </a:br>
            <a:r>
              <a:rPr lang="en-US" sz="1600" spc="-50" dirty="0">
                <a:latin typeface="Avenir Next LT Pro" panose="020B0504020202020204" pitchFamily="34" charset="0"/>
              </a:rPr>
              <a:t>          </a:t>
            </a:r>
            <a:r>
              <a:rPr lang="en-US" sz="1600" spc="-50" dirty="0" err="1">
                <a:latin typeface="Avenir Next LT Pro" panose="020B0504020202020204" pitchFamily="34" charset="0"/>
              </a:rPr>
              <a:t>i</a:t>
            </a:r>
            <a:r>
              <a:rPr lang="en-US" sz="1600" spc="-50" dirty="0">
                <a:latin typeface="Avenir Next LT Pro" panose="020B0504020202020204" pitchFamily="34" charset="0"/>
              </a:rPr>
              <a:t>) We cannot change the with and height of the element </a:t>
            </a:r>
            <a:br>
              <a:rPr lang="en-US" sz="1600" spc="-50" dirty="0">
                <a:latin typeface="Avenir Next LT Pro" panose="020B0504020202020204" pitchFamily="34" charset="0"/>
              </a:rPr>
            </a:br>
            <a:r>
              <a:rPr lang="en-US" sz="1600" spc="-50" dirty="0">
                <a:latin typeface="Avenir Next LT Pro" panose="020B0504020202020204" pitchFamily="34" charset="0"/>
              </a:rPr>
              <a:t>          ii) It can have padding and margin in the horizontal direction, but it done not respect margin and padding in vertical direction.</a:t>
            </a:r>
            <a:br>
              <a:rPr lang="en-US" sz="1600" spc="-50" dirty="0">
                <a:latin typeface="Avenir Next LT Pro" panose="020B0504020202020204" pitchFamily="34" charset="0"/>
              </a:rPr>
            </a:br>
            <a:r>
              <a:rPr lang="en-US" sz="1600" spc="-50" dirty="0">
                <a:latin typeface="Avenir Next LT Pro" panose="020B0504020202020204" pitchFamily="34" charset="0"/>
              </a:rPr>
              <a:t>          Iii) It cannot have a child block element.</a:t>
            </a:r>
            <a:br>
              <a:rPr lang="en-US" sz="1600" spc="-50" dirty="0">
                <a:latin typeface="Avenir Next LT Pro" panose="020B0504020202020204" pitchFamily="34" charset="0"/>
              </a:rPr>
            </a:br>
            <a:r>
              <a:rPr lang="en-US" sz="1600" spc="-50" dirty="0">
                <a:latin typeface="Avenir Next LT Pro" panose="020B0504020202020204" pitchFamily="34" charset="0"/>
              </a:rPr>
              <a:t>          </a:t>
            </a:r>
            <a:r>
              <a:rPr lang="en-US" sz="1600" b="1" spc="-50" dirty="0">
                <a:latin typeface="Avenir Next LT Pro" panose="020B0504020202020204" pitchFamily="34" charset="0"/>
              </a:rPr>
              <a:t>II) </a:t>
            </a:r>
            <a:r>
              <a:rPr lang="en-US" sz="1600" spc="-50" dirty="0">
                <a:latin typeface="Avenir Next LT Pro" panose="020B0504020202020204" pitchFamily="34" charset="0"/>
              </a:rPr>
              <a:t>Display inline block</a:t>
            </a:r>
            <a:br>
              <a:rPr lang="en-US" sz="1600" spc="-50" dirty="0">
                <a:latin typeface="Avenir Next LT Pro" panose="020B0504020202020204" pitchFamily="34" charset="0"/>
              </a:rPr>
            </a:br>
            <a:r>
              <a:rPr lang="en-US" sz="1600" spc="-50" dirty="0">
                <a:latin typeface="Avenir Next LT Pro" panose="020B0504020202020204" pitchFamily="34" charset="0"/>
              </a:rPr>
              <a:t>          </a:t>
            </a:r>
            <a:r>
              <a:rPr lang="en-US" sz="1600" spc="-50" dirty="0" err="1">
                <a:latin typeface="Avenir Next LT Pro" panose="020B0504020202020204" pitchFamily="34" charset="0"/>
              </a:rPr>
              <a:t>i</a:t>
            </a:r>
            <a:r>
              <a:rPr lang="en-US" sz="1600" spc="-50" dirty="0">
                <a:latin typeface="Avenir Next LT Pro" panose="020B0504020202020204" pitchFamily="34" charset="0"/>
              </a:rPr>
              <a:t>) WE can change the width and height of the element</a:t>
            </a:r>
            <a:br>
              <a:rPr lang="en-US" sz="1600" spc="-50" dirty="0">
                <a:latin typeface="Avenir Next LT Pro" panose="020B0504020202020204" pitchFamily="34" charset="0"/>
              </a:rPr>
            </a:br>
            <a:r>
              <a:rPr lang="en-US" sz="1600" spc="-50" dirty="0">
                <a:latin typeface="Avenir Next LT Pro" panose="020B0504020202020204" pitchFamily="34" charset="0"/>
              </a:rPr>
              <a:t>          ii) It can have padding and margin in all four directions and it respect all directions.</a:t>
            </a:r>
            <a:br>
              <a:rPr lang="en-US" sz="1600" spc="-50" dirty="0">
                <a:latin typeface="Avenir Next LT Pro" panose="020B0504020202020204" pitchFamily="34" charset="0"/>
              </a:rPr>
            </a:br>
            <a:r>
              <a:rPr lang="en-US" sz="1600" spc="-50" dirty="0">
                <a:latin typeface="Avenir Next LT Pro" panose="020B0504020202020204" pitchFamily="34" charset="0"/>
              </a:rPr>
              <a:t>          Iii) It can have a child block elements</a:t>
            </a:r>
            <a:br>
              <a:rPr lang="en-US" sz="1600" spc="-50" dirty="0">
                <a:latin typeface="Avenir Next LT Pro" panose="020B0504020202020204" pitchFamily="34" charset="0"/>
              </a:rPr>
            </a:br>
            <a:r>
              <a:rPr lang="en-US" sz="1600" spc="-50" dirty="0">
                <a:latin typeface="Avenir Next LT Pro" panose="020B0504020202020204" pitchFamily="34" charset="0"/>
              </a:rPr>
              <a:t>	</a:t>
            </a:r>
            <a:endParaRPr lang="en-IN" sz="1500" dirty="0">
              <a:latin typeface="Avenir Next LT Pro" panose="020B0504020202020204" pitchFamily="34" charset="0"/>
            </a:endParaRPr>
          </a:p>
        </p:txBody>
      </p:sp>
    </p:spTree>
    <p:extLst>
      <p:ext uri="{BB962C8B-B14F-4D97-AF65-F5344CB8AC3E}">
        <p14:creationId xmlns:p14="http://schemas.microsoft.com/office/powerpoint/2010/main" val="25155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E88D6F-5A4F-8384-00E5-318E4068C5FA}"/>
              </a:ext>
            </a:extLst>
          </p:cNvPr>
          <p:cNvSpPr>
            <a:spLocks noGrp="1"/>
          </p:cNvSpPr>
          <p:nvPr>
            <p:ph type="title"/>
          </p:nvPr>
        </p:nvSpPr>
        <p:spPr>
          <a:xfrm>
            <a:off x="155644" y="175099"/>
            <a:ext cx="11858016" cy="6498076"/>
          </a:xfrm>
        </p:spPr>
        <p:txBody>
          <a:bodyPr>
            <a:normAutofit/>
          </a:bodyPr>
          <a:lstStyle/>
          <a:p>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15. How many types of position in CSS?</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There is a five types of position in CSS( static, relative, absolute, fixed and sticky)</a:t>
            </a:r>
            <a:br>
              <a:rPr lang="en-US" sz="1600" dirty="0">
                <a:latin typeface="Avenir Next LT Pro" panose="020B0504020202020204" pitchFamily="34" charset="0"/>
              </a:rPr>
            </a:b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16. What is the difference between in position properties?</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600" i="0" kern="1200" spc="-50" baseline="0" dirty="0" err="1">
                <a:effectLst/>
                <a:latin typeface="Avenir Next LT Pro" panose="020B0504020202020204" pitchFamily="34" charset="0"/>
              </a:rPr>
              <a:t>i</a:t>
            </a:r>
            <a:r>
              <a:rPr lang="en-US" sz="1600" i="0" kern="1200" spc="-50" baseline="0" dirty="0">
                <a:effectLst/>
                <a:latin typeface="Avenir Next LT Pro" panose="020B0504020202020204" pitchFamily="34" charset="0"/>
              </a:rPr>
              <a:t>) Relative: The element is positioned relative to the normal position.</a:t>
            </a:r>
            <a:br>
              <a:rPr lang="en-US" sz="1600" spc="-50" dirty="0">
                <a:latin typeface="Avenir Next LT Pro" panose="020B0504020202020204" pitchFamily="34" charset="0"/>
              </a:rPr>
            </a:br>
            <a:r>
              <a:rPr lang="en-US" sz="1600" spc="-50" dirty="0">
                <a:latin typeface="Avenir Next LT Pro" panose="020B0504020202020204" pitchFamily="34" charset="0"/>
              </a:rPr>
              <a:t>          ii) Absolute: The element positioned absolutely to its first positioned parent. </a:t>
            </a:r>
            <a:br>
              <a:rPr lang="en-US" sz="1600" spc="-50" dirty="0">
                <a:latin typeface="Avenir Next LT Pro" panose="020B0504020202020204" pitchFamily="34" charset="0"/>
              </a:rPr>
            </a:br>
            <a:r>
              <a:rPr lang="en-US" sz="1600" spc="-50" dirty="0">
                <a:latin typeface="Avenir Next LT Pro" panose="020B0504020202020204" pitchFamily="34" charset="0"/>
              </a:rPr>
              <a:t>          iii) Fixed: The element is positioned related to the browser window.</a:t>
            </a:r>
            <a:br>
              <a:rPr lang="en-US" sz="1600" spc="-50" dirty="0">
                <a:latin typeface="Avenir Next LT Pro" panose="020B0504020202020204" pitchFamily="34" charset="0"/>
              </a:rPr>
            </a:br>
            <a:r>
              <a:rPr lang="en-US" sz="1600" spc="-50" dirty="0">
                <a:latin typeface="Avenir Next LT Pro" panose="020B0504020202020204" pitchFamily="34" charset="0"/>
              </a:rPr>
              <a:t>          iv) Sticky: The element is positioned based on user scroll position.</a:t>
            </a:r>
            <a:br>
              <a:rPr lang="en-US" sz="1600" spc="-50" dirty="0">
                <a:latin typeface="Avenir Next LT Pro" panose="020B0504020202020204" pitchFamily="34" charset="0"/>
              </a:rPr>
            </a:br>
            <a:r>
              <a:rPr lang="en-US" sz="1600" spc="-50" dirty="0">
                <a:latin typeface="Avenir Next LT Pro" panose="020B0504020202020204" pitchFamily="34" charset="0"/>
              </a:rPr>
              <a:t>          v) Static: It’s a default position.</a:t>
            </a:r>
            <a:br>
              <a:rPr lang="en-US" sz="1600" spc="-50" dirty="0">
                <a:latin typeface="Avenir Next LT Pro" panose="020B0504020202020204" pitchFamily="34" charset="0"/>
              </a:rPr>
            </a:b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17. What is pseudo elements in CSS?</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A pseudo element is use for the styling specified parts of the element (like first letter, first line or first element)</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18. What is pseudo selector in CSS?</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CSS pseudo selector are used for add style to selector, but only those selectors meet certain conditions.(like focus, hover, active like this)</a:t>
            </a:r>
            <a:br>
              <a:rPr lang="en-US" sz="1600" i="0" kern="1200" spc="-50" baseline="0" dirty="0">
                <a:effectLst/>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19. What is media query in CSS?</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Media allow you to apply CSS styles for depending on the device media type and apply style for different screen size.</a:t>
            </a:r>
            <a:br>
              <a:rPr lang="en-US" sz="15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20. What is </a:t>
            </a:r>
            <a:r>
              <a:rPr lang="en-US" sz="1600" spc="-50" dirty="0">
                <a:highlight>
                  <a:srgbClr val="FFFF00"/>
                </a:highlight>
                <a:latin typeface="Avenir Next LT Pro" panose="020B0504020202020204" pitchFamily="34" charset="0"/>
              </a:rPr>
              <a:t>J</a:t>
            </a:r>
            <a:r>
              <a:rPr lang="en-US" sz="1600" i="0" kern="1200" spc="-50" baseline="0" dirty="0">
                <a:effectLst/>
                <a:highlight>
                  <a:srgbClr val="FFFF00"/>
                </a:highlight>
                <a:latin typeface="Avenir Next LT Pro" panose="020B0504020202020204" pitchFamily="34" charset="0"/>
              </a:rPr>
              <a:t>avaScript?</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JavaScript is a scripting and programing language that allows you to implement complex features on web pages</a:t>
            </a:r>
            <a:r>
              <a:rPr lang="en-US" sz="1500" spc="-50" dirty="0">
                <a:latin typeface="Avenir Next LT Pro" panose="020B0504020202020204" pitchFamily="34" charset="0"/>
              </a:rPr>
              <a:t>. </a:t>
            </a:r>
            <a:br>
              <a:rPr lang="en-US" sz="15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21. How many types of variables in JavaScript?</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There is a three types of variable in JavaScript first is var second one is let and third one is const</a:t>
            </a:r>
            <a:r>
              <a:rPr lang="en-US" sz="1500" spc="-50" dirty="0">
                <a:latin typeface="Avenir Next LT Pro" panose="020B0504020202020204" pitchFamily="34" charset="0"/>
              </a:rPr>
              <a:t>. </a:t>
            </a:r>
            <a:br>
              <a:rPr lang="en-US" sz="15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22. How many types of scope in JavaScript?</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There is a mainly four type of scope in JavaScript </a:t>
            </a:r>
            <a:r>
              <a:rPr lang="en-US" sz="1600" i="0" kern="1200" spc="-50" baseline="0" dirty="0" err="1">
                <a:effectLst/>
                <a:latin typeface="Avenir Next LT Pro" panose="020B0504020202020204" pitchFamily="34" charset="0"/>
              </a:rPr>
              <a:t>i</a:t>
            </a:r>
            <a:r>
              <a:rPr lang="en-US" sz="1600" i="0" kern="1200" spc="-50" baseline="0" dirty="0">
                <a:effectLst/>
                <a:latin typeface="Avenir Next LT Pro" panose="020B0504020202020204" pitchFamily="34" charset="0"/>
              </a:rPr>
              <a:t>) Block Scope, ii) Function Scope, iii) Local Scope, iv) Global Scope</a:t>
            </a:r>
            <a:r>
              <a:rPr lang="en-US" sz="1500" spc="-50" dirty="0">
                <a:latin typeface="Avenir Next LT Pro" panose="020B0504020202020204" pitchFamily="34" charset="0"/>
              </a:rPr>
              <a:t>.</a:t>
            </a:r>
            <a:endParaRPr lang="en-IN" sz="1500" dirty="0">
              <a:latin typeface="Avenir Next LT Pro" panose="020B0504020202020204" pitchFamily="34" charset="0"/>
            </a:endParaRPr>
          </a:p>
        </p:txBody>
      </p:sp>
    </p:spTree>
    <p:extLst>
      <p:ext uri="{BB962C8B-B14F-4D97-AF65-F5344CB8AC3E}">
        <p14:creationId xmlns:p14="http://schemas.microsoft.com/office/powerpoint/2010/main" val="945146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E88D6F-5A4F-8384-00E5-318E4068C5FA}"/>
              </a:ext>
            </a:extLst>
          </p:cNvPr>
          <p:cNvSpPr>
            <a:spLocks noGrp="1"/>
          </p:cNvSpPr>
          <p:nvPr>
            <p:ph type="title"/>
          </p:nvPr>
        </p:nvSpPr>
        <p:spPr>
          <a:xfrm>
            <a:off x="155644" y="175099"/>
            <a:ext cx="11858016" cy="6498076"/>
          </a:xfrm>
        </p:spPr>
        <p:txBody>
          <a:bodyPr>
            <a:normAutofit fontScale="90000"/>
          </a:bodyPr>
          <a:lstStyle/>
          <a:p>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23. What is block scope in JavaScript?</a:t>
            </a:r>
            <a:br>
              <a:rPr lang="en-US" sz="1600" dirty="0">
                <a:latin typeface="Avenir Next LT Pro" panose="020B0504020202020204" pitchFamily="34" charset="0"/>
              </a:rPr>
            </a:br>
            <a:r>
              <a:rPr lang="en-US" sz="1600" dirty="0">
                <a:latin typeface="Avenir Next LT Pro" panose="020B0504020202020204" pitchFamily="34" charset="0"/>
              </a:rPr>
              <a:t>Ans: </a:t>
            </a:r>
            <a:r>
              <a:rPr lang="en-US" sz="1500" dirty="0">
                <a:latin typeface="Avenir Next LT Pro" panose="020B0504020202020204" pitchFamily="34" charset="0"/>
              </a:rPr>
              <a:t>Variable that are declared inside the block {} cannot be access from the outside the block.</a:t>
            </a:r>
            <a:br>
              <a:rPr lang="en-US" sz="1600" dirty="0">
                <a:latin typeface="Avenir Next LT Pro" panose="020B0504020202020204" pitchFamily="34" charset="0"/>
              </a:rPr>
            </a:br>
            <a:r>
              <a:rPr lang="en-US" sz="1600" dirty="0">
                <a:latin typeface="Avenir Next LT Pro" panose="020B0504020202020204" pitchFamily="34" charset="0"/>
              </a:rPr>
              <a:t> </a:t>
            </a: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24. What is function scope in JavaScript?</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Variable that are declared  inside the function and are not accessible from outside the function called function scope</a:t>
            </a:r>
            <a:br>
              <a:rPr lang="en-US" sz="1600" dirty="0">
                <a:latin typeface="Avenir Next LT Pro" panose="020B0504020202020204" pitchFamily="34" charset="0"/>
              </a:rPr>
            </a:br>
            <a:r>
              <a:rPr lang="en-US" sz="1600" dirty="0">
                <a:latin typeface="Avenir Next LT Pro" panose="020B0504020202020204" pitchFamily="34" charset="0"/>
              </a:rPr>
              <a:t> </a:t>
            </a: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25. What is global scope in JavaScript?</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Variable that are declared outside the function or block and it's accessed from anywhere in the program.</a:t>
            </a:r>
            <a:br>
              <a:rPr lang="en-US" sz="16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a:t>
            </a:r>
            <a:r>
              <a:rPr lang="en-US" sz="1600" spc="-50" dirty="0">
                <a:highlight>
                  <a:srgbClr val="FFFF00"/>
                </a:highlight>
                <a:latin typeface="Avenir Next LT Pro" panose="020B0504020202020204" pitchFamily="34" charset="0"/>
              </a:rPr>
              <a:t>26</a:t>
            </a:r>
            <a:r>
              <a:rPr lang="en-US" sz="1600" i="0" kern="1200" spc="-50" baseline="0" dirty="0">
                <a:effectLst/>
                <a:highlight>
                  <a:srgbClr val="FFFF00"/>
                </a:highlight>
                <a:latin typeface="Avenir Next LT Pro" panose="020B0504020202020204" pitchFamily="34" charset="0"/>
              </a:rPr>
              <a:t>. How any types of datatypes in JavaScript?</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In JavaScript there is a mainly two types of datatypes </a:t>
            </a:r>
            <a:r>
              <a:rPr lang="en-US" sz="1500" i="0" kern="1200" spc="-50" baseline="0" dirty="0" err="1">
                <a:effectLst/>
                <a:latin typeface="Avenir Next LT Pro" panose="020B0504020202020204" pitchFamily="34" charset="0"/>
              </a:rPr>
              <a:t>i</a:t>
            </a:r>
            <a:r>
              <a:rPr lang="en-US" sz="1500" i="0" kern="1200" spc="-50" baseline="0" dirty="0">
                <a:effectLst/>
                <a:latin typeface="Avenir Next LT Pro" panose="020B0504020202020204" pitchFamily="34" charset="0"/>
              </a:rPr>
              <a:t>) </a:t>
            </a:r>
            <a:r>
              <a:rPr lang="en-US" sz="1500" b="1" i="0" kern="1200" spc="-50" baseline="0" dirty="0">
                <a:effectLst/>
                <a:latin typeface="Avenir Next LT Pro" panose="020B0504020202020204" pitchFamily="34" charset="0"/>
              </a:rPr>
              <a:t>Primitive(predefined) </a:t>
            </a:r>
            <a:r>
              <a:rPr lang="en-US" sz="1500" i="0" kern="1200" spc="-50" baseline="0" dirty="0">
                <a:effectLst/>
                <a:latin typeface="Avenir Next LT Pro" panose="020B0504020202020204" pitchFamily="34" charset="0"/>
              </a:rPr>
              <a:t>datatype</a:t>
            </a:r>
            <a:r>
              <a:rPr lang="en-US" sz="1500" b="1" i="0" kern="1200" spc="-50" baseline="0" dirty="0">
                <a:effectLst/>
                <a:latin typeface="Avenir Next LT Pro" panose="020B0504020202020204" pitchFamily="34" charset="0"/>
              </a:rPr>
              <a:t> </a:t>
            </a:r>
            <a:r>
              <a:rPr lang="en-US" sz="1500" i="0" kern="1200" spc="-50" baseline="0" dirty="0">
                <a:effectLst/>
                <a:latin typeface="Avenir Next LT Pro" panose="020B0504020202020204" pitchFamily="34" charset="0"/>
              </a:rPr>
              <a:t>and second one is ii) </a:t>
            </a:r>
            <a:r>
              <a:rPr lang="en-US" sz="1500" b="1" i="0" kern="1200" spc="-50" baseline="0" dirty="0">
                <a:effectLst/>
                <a:latin typeface="Avenir Next LT Pro" panose="020B0504020202020204" pitchFamily="34" charset="0"/>
              </a:rPr>
              <a:t>Non-Primitive </a:t>
            </a:r>
            <a:r>
              <a:rPr lang="en-US" sz="1500" i="0" kern="1200" spc="-50" baseline="0" dirty="0">
                <a:effectLst/>
                <a:latin typeface="Avenir Next LT Pro" panose="020B0504020202020204" pitchFamily="34" charset="0"/>
              </a:rPr>
              <a:t>datatype</a:t>
            </a:r>
            <a:r>
              <a:rPr lang="en-US" sz="1500" b="1" i="0" kern="1200" spc="-50" baseline="0" dirty="0">
                <a:effectLst/>
                <a:latin typeface="Avenir Next LT Pro" panose="020B0504020202020204" pitchFamily="34" charset="0"/>
              </a:rPr>
              <a:t>  </a:t>
            </a:r>
            <a:r>
              <a:rPr lang="en-US" sz="1500" i="0" kern="1200" spc="-50" baseline="0" dirty="0">
                <a:effectLst/>
                <a:latin typeface="Avenir Next LT Pro" panose="020B0504020202020204" pitchFamily="34" charset="0"/>
              </a:rPr>
              <a:t>or </a:t>
            </a:r>
            <a:r>
              <a:rPr lang="en-US" sz="1500" b="1" i="0" kern="1200" spc="-50" baseline="0" dirty="0">
                <a:effectLst/>
                <a:latin typeface="Avenir Next LT Pro" panose="020B0504020202020204" pitchFamily="34" charset="0"/>
              </a:rPr>
              <a:t>complex</a:t>
            </a:r>
            <a:br>
              <a:rPr lang="en-US" sz="1600" b="1" i="0" kern="1200" spc="-50" baseline="0" dirty="0">
                <a:effectLst/>
                <a:latin typeface="Avenir Next LT Pro" panose="020B0504020202020204" pitchFamily="34" charset="0"/>
              </a:rPr>
            </a:br>
            <a:r>
              <a:rPr lang="en-US" sz="1600" b="1" i="0" kern="1200" spc="-50" baseline="0" dirty="0">
                <a:effectLst/>
                <a:latin typeface="Avenir Next LT Pro" panose="020B0504020202020204" pitchFamily="34" charset="0"/>
              </a:rPr>
              <a:t> </a:t>
            </a:r>
            <a:br>
              <a:rPr lang="en-US" sz="1600" b="1"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a:t>
            </a:r>
            <a:r>
              <a:rPr lang="en-US" sz="1600" spc="-50" dirty="0">
                <a:highlight>
                  <a:srgbClr val="FFFF00"/>
                </a:highlight>
                <a:latin typeface="Avenir Next LT Pro" panose="020B0504020202020204" pitchFamily="34" charset="0"/>
              </a:rPr>
              <a:t>27</a:t>
            </a:r>
            <a:r>
              <a:rPr lang="en-US" sz="1600" i="0" kern="1200" spc="-50" baseline="0" dirty="0">
                <a:effectLst/>
                <a:highlight>
                  <a:srgbClr val="FFFF00"/>
                </a:highlight>
                <a:latin typeface="Avenir Next LT Pro" panose="020B0504020202020204" pitchFamily="34" charset="0"/>
              </a:rPr>
              <a:t>. How many types of primitive datatype?</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The predefined datatypes provide by JavaScript language are know as primitive datatype Primitive datatypes are also known as in-built datatypes.</a:t>
            </a:r>
            <a:br>
              <a:rPr lang="en-US" sz="1500" i="0" kern="1200" spc="-50" baseline="0" dirty="0">
                <a:effectLst/>
                <a:latin typeface="Avenir Next LT Pro" panose="020B0504020202020204" pitchFamily="34" charset="0"/>
              </a:rPr>
            </a:br>
            <a:r>
              <a:rPr lang="en-US" sz="1500" i="0" kern="1200" spc="-50" baseline="0" dirty="0">
                <a:effectLst/>
                <a:latin typeface="Avenir Next LT Pro" panose="020B0504020202020204" pitchFamily="34" charset="0"/>
              </a:rPr>
              <a:t>                 </a:t>
            </a:r>
            <a:r>
              <a:rPr lang="en-US" sz="1500" i="0" kern="1200" spc="-50" baseline="0" dirty="0" err="1">
                <a:effectLst/>
                <a:latin typeface="Avenir Next LT Pro" panose="020B0504020202020204" pitchFamily="34" charset="0"/>
              </a:rPr>
              <a:t>i</a:t>
            </a:r>
            <a:r>
              <a:rPr lang="en-US" sz="1500" i="0" kern="1200" spc="-50" baseline="0" dirty="0">
                <a:effectLst/>
                <a:latin typeface="Avenir Next LT Pro" panose="020B0504020202020204" pitchFamily="34" charset="0"/>
              </a:rPr>
              <a:t>) </a:t>
            </a:r>
            <a:r>
              <a:rPr lang="en-US" sz="1500" spc="-50" dirty="0">
                <a:latin typeface="Avenir Next LT Pro" panose="020B0504020202020204" pitchFamily="34" charset="0"/>
              </a:rPr>
              <a:t>Number, string, Boolean, null, undefined, symbol, </a:t>
            </a:r>
            <a:r>
              <a:rPr lang="en-US" sz="1500" spc="-50" dirty="0" err="1">
                <a:latin typeface="Avenir Next LT Pro" panose="020B0504020202020204" pitchFamily="34" charset="0"/>
              </a:rPr>
              <a:t>bigint</a:t>
            </a:r>
            <a:r>
              <a:rPr lang="en-US" sz="1500" spc="-50" dirty="0">
                <a:latin typeface="Avenir Next LT Pro" panose="020B0504020202020204" pitchFamily="34" charset="0"/>
              </a:rPr>
              <a:t> there in a seven types of primitive datatype.</a:t>
            </a:r>
            <a:br>
              <a:rPr lang="en-US" sz="15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28. How many types of non-primitive datatype?</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The datatype that are obtained from pri</a:t>
            </a:r>
            <a:r>
              <a:rPr lang="en-US" sz="1600" spc="-50" dirty="0">
                <a:latin typeface="Avenir Next LT Pro" panose="020B0504020202020204" pitchFamily="34" charset="0"/>
              </a:rPr>
              <a:t>mitive datatype of the JavaScript language are know as non-primitive datatypes</a:t>
            </a:r>
            <a:r>
              <a:rPr lang="en-US" sz="1500" spc="-50" dirty="0">
                <a:latin typeface="Avenir Next LT Pro" panose="020B0504020202020204" pitchFamily="34" charset="0"/>
              </a:rPr>
              <a:t>.</a:t>
            </a:r>
            <a:br>
              <a:rPr lang="en-US" sz="1500" spc="-50" dirty="0">
                <a:latin typeface="Avenir Next LT Pro" panose="020B0504020202020204" pitchFamily="34" charset="0"/>
              </a:rPr>
            </a:br>
            <a:r>
              <a:rPr lang="en-US" sz="1500" spc="-50" dirty="0">
                <a:latin typeface="Avenir Next LT Pro" panose="020B0504020202020204" pitchFamily="34" charset="0"/>
              </a:rPr>
              <a:t>                  Example: Object.</a:t>
            </a:r>
            <a:r>
              <a:rPr lang="en-US" sz="1600" b="1" i="0" kern="1200" spc="-50" baseline="0" dirty="0">
                <a:effectLst/>
                <a:latin typeface="Avenir Next LT Pro" panose="020B0504020202020204" pitchFamily="34" charset="0"/>
              </a:rPr>
              <a:t> </a:t>
            </a:r>
            <a:br>
              <a:rPr lang="en-US" sz="1600" b="1" i="0" kern="1200" spc="-50" baseline="0" dirty="0">
                <a:effectLst/>
                <a:latin typeface="Avenir Next LT Pro" panose="020B0504020202020204" pitchFamily="34" charset="0"/>
              </a:rPr>
            </a:br>
            <a:r>
              <a:rPr lang="en-US" sz="1600" b="1" i="0" kern="1200" spc="-50" baseline="0" dirty="0">
                <a:effectLst/>
                <a:latin typeface="Avenir Next LT Pro" panose="020B0504020202020204" pitchFamily="34" charset="0"/>
              </a:rPr>
              <a:t> </a:t>
            </a:r>
            <a:br>
              <a:rPr lang="en-US" sz="1600" b="1"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a:t>
            </a:r>
            <a:r>
              <a:rPr lang="en-US" sz="1600" spc="-50" dirty="0">
                <a:highlight>
                  <a:srgbClr val="FFFF00"/>
                </a:highlight>
                <a:latin typeface="Avenir Next LT Pro" panose="020B0504020202020204" pitchFamily="34" charset="0"/>
              </a:rPr>
              <a:t>29</a:t>
            </a:r>
            <a:r>
              <a:rPr lang="en-US" sz="1600" i="0" kern="1200" spc="-50" baseline="0" dirty="0">
                <a:effectLst/>
                <a:highlight>
                  <a:srgbClr val="FFFF00"/>
                </a:highlight>
                <a:latin typeface="Avenir Next LT Pro" panose="020B0504020202020204" pitchFamily="34" charset="0"/>
              </a:rPr>
              <a:t>. What is array in JavaScript?</a:t>
            </a:r>
            <a:br>
              <a:rPr lang="en-US" sz="1600" i="0" kern="1200" spc="-50" baseline="0" dirty="0">
                <a:effectLst/>
                <a:latin typeface="Avenir Next LT Pro" panose="020B0504020202020204" pitchFamily="34" charset="0"/>
              </a:rPr>
            </a:br>
            <a:r>
              <a:rPr lang="en-US" sz="16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JavaScript array is a dat</a:t>
            </a:r>
            <a:r>
              <a:rPr lang="en-US" sz="1500" spc="-50" dirty="0">
                <a:latin typeface="Avenir Next LT Pro" panose="020B0504020202020204" pitchFamily="34" charset="0"/>
              </a:rPr>
              <a:t>a structure that allows you to store and organize multiple vales within a single variable.</a:t>
            </a:r>
            <a:br>
              <a:rPr lang="en-US" sz="1500" spc="-50" dirty="0">
                <a:latin typeface="Avenir Next LT Pro" panose="020B0504020202020204" pitchFamily="34" charset="0"/>
              </a:rPr>
            </a:br>
            <a:br>
              <a:rPr lang="en-US" sz="1500" spc="-50" dirty="0">
                <a:latin typeface="Avenir Next LT Pro" panose="020B0504020202020204" pitchFamily="34" charset="0"/>
              </a:rPr>
            </a:br>
            <a:r>
              <a:rPr lang="en-US" sz="1500" spc="-50" dirty="0">
                <a:latin typeface="Avenir Next LT Pro" panose="020B0504020202020204" pitchFamily="34" charset="0"/>
              </a:rPr>
              <a:t>QUE 30. </a:t>
            </a:r>
            <a:r>
              <a:rPr lang="en-US" sz="1500" spc="-50" dirty="0">
                <a:highlight>
                  <a:srgbClr val="FFFF00"/>
                </a:highlight>
                <a:latin typeface="Avenir Next LT Pro" panose="020B0504020202020204" pitchFamily="34" charset="0"/>
              </a:rPr>
              <a:t>What is object in JavaScript?</a:t>
            </a:r>
            <a:br>
              <a:rPr lang="en-US" sz="1500" spc="-50" dirty="0">
                <a:highlight>
                  <a:srgbClr val="FFFF00"/>
                </a:highlight>
                <a:latin typeface="Avenir Next LT Pro" panose="020B0504020202020204" pitchFamily="34" charset="0"/>
              </a:rPr>
            </a:br>
            <a:r>
              <a:rPr lang="en-US" sz="1500" spc="-50" dirty="0">
                <a:latin typeface="Avenir Next LT Pro" panose="020B0504020202020204" pitchFamily="34" charset="0"/>
              </a:rPr>
              <a:t>Ans: </a:t>
            </a:r>
            <a:r>
              <a:rPr lang="en-US" sz="1700" spc="-50" dirty="0">
                <a:latin typeface="Avenir Next LT Pro" panose="020B0504020202020204" pitchFamily="34" charset="0"/>
              </a:rPr>
              <a:t>In JavaScript, an object is a standalone entity, with properties and type. Compare it with a cup, for example. A cup is an object, with properties. A cup has a color, a design, weight, a material it is made of, etc. The same way, JavaScript objects can have properties, which define their characteristics.</a:t>
            </a:r>
            <a:br>
              <a:rPr lang="en-US" sz="1500" spc="-50" dirty="0">
                <a:latin typeface="Avenir Next LT Pro" panose="020B0504020202020204" pitchFamily="34" charset="0"/>
              </a:rPr>
            </a:br>
            <a:endParaRPr lang="en-IN" sz="1500" dirty="0">
              <a:latin typeface="Avenir Next LT Pro" panose="020B0504020202020204" pitchFamily="34" charset="0"/>
            </a:endParaRPr>
          </a:p>
        </p:txBody>
      </p:sp>
    </p:spTree>
    <p:extLst>
      <p:ext uri="{BB962C8B-B14F-4D97-AF65-F5344CB8AC3E}">
        <p14:creationId xmlns:p14="http://schemas.microsoft.com/office/powerpoint/2010/main" val="439460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E88D6F-5A4F-8384-00E5-318E4068C5FA}"/>
              </a:ext>
            </a:extLst>
          </p:cNvPr>
          <p:cNvSpPr>
            <a:spLocks noGrp="1"/>
          </p:cNvSpPr>
          <p:nvPr>
            <p:ph type="title"/>
          </p:nvPr>
        </p:nvSpPr>
        <p:spPr>
          <a:xfrm>
            <a:off x="155644" y="175099"/>
            <a:ext cx="11858016" cy="6498076"/>
          </a:xfrm>
        </p:spPr>
        <p:txBody>
          <a:bodyPr>
            <a:normAutofit fontScale="90000"/>
          </a:bodyPr>
          <a:lstStyle/>
          <a:p>
            <a:br>
              <a:rPr lang="en-US" sz="1600" dirty="0">
                <a:latin typeface="Avenir Next LT Pro" panose="020B0504020202020204" pitchFamily="34" charset="0"/>
              </a:rPr>
            </a:br>
            <a:r>
              <a:rPr lang="en-US" sz="1800" dirty="0">
                <a:highlight>
                  <a:srgbClr val="FFFF00"/>
                </a:highlight>
                <a:latin typeface="Avenir Next LT Pro" panose="020B0504020202020204" pitchFamily="34" charset="0"/>
              </a:rPr>
              <a:t>Que 31. What is JavaScript operator?</a:t>
            </a:r>
            <a:br>
              <a:rPr lang="en-US" sz="1800" dirty="0">
                <a:latin typeface="Avenir Next LT Pro" panose="020B0504020202020204" pitchFamily="34" charset="0"/>
              </a:rPr>
            </a:br>
            <a:r>
              <a:rPr lang="en-US" sz="1700" dirty="0">
                <a:latin typeface="Avenir Next LT Pro" panose="020B0504020202020204" pitchFamily="34" charset="0"/>
              </a:rPr>
              <a:t>Ans: JavaScript operator are special symbol used in script to perform operations on operands such as arithmetic calculations, logical comparisons or value assignments.</a:t>
            </a:r>
            <a:br>
              <a:rPr lang="en-US" sz="1600" dirty="0">
                <a:latin typeface="Avenir Next LT Pro" panose="020B0504020202020204" pitchFamily="34" charset="0"/>
              </a:rPr>
            </a:br>
            <a:r>
              <a:rPr lang="en-US" sz="1600" dirty="0">
                <a:latin typeface="Avenir Next LT Pro" panose="020B0504020202020204" pitchFamily="34" charset="0"/>
              </a:rPr>
              <a:t> </a:t>
            </a:r>
            <a:br>
              <a:rPr lang="en-US" sz="1600" dirty="0">
                <a:latin typeface="Avenir Next LT Pro" panose="020B0504020202020204" pitchFamily="34" charset="0"/>
              </a:rPr>
            </a:br>
            <a:r>
              <a:rPr lang="en-US" sz="1800" dirty="0">
                <a:highlight>
                  <a:srgbClr val="FFFF00"/>
                </a:highlight>
                <a:latin typeface="Avenir Next LT Pro" panose="020B0504020202020204" pitchFamily="34" charset="0"/>
              </a:rPr>
              <a:t>Que 32. Explain the types of JavaScript operator?</a:t>
            </a:r>
            <a:r>
              <a:rPr lang="en-US" sz="18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700" i="0" kern="1200" spc="-50" baseline="0" dirty="0" err="1">
                <a:effectLst/>
                <a:latin typeface="Avenir Next LT Pro" panose="020B0504020202020204" pitchFamily="34" charset="0"/>
              </a:rPr>
              <a:t>i</a:t>
            </a:r>
            <a:r>
              <a:rPr lang="en-US" sz="1700" i="0" kern="1200" spc="-50" baseline="0" dirty="0">
                <a:effectLst/>
                <a:latin typeface="Avenir Next LT Pro" panose="020B0504020202020204" pitchFamily="34" charset="0"/>
              </a:rPr>
              <a:t>) JavaScript </a:t>
            </a:r>
            <a:r>
              <a:rPr lang="en-US" sz="1700" b="1" i="0" kern="1200" spc="-50" baseline="0" dirty="0">
                <a:effectLst/>
                <a:latin typeface="Avenir Next LT Pro" panose="020B0504020202020204" pitchFamily="34" charset="0"/>
              </a:rPr>
              <a:t>arithmetic</a:t>
            </a:r>
            <a:r>
              <a:rPr lang="en-US" sz="1700" i="0" kern="1200" spc="-50" baseline="0" dirty="0">
                <a:effectLst/>
                <a:latin typeface="Avenir Next LT Pro" panose="020B0504020202020204" pitchFamily="34" charset="0"/>
              </a:rPr>
              <a:t> operator: Arithmetic Operators are used to perform arithmetic on numbers (</a:t>
            </a:r>
            <a:r>
              <a:rPr lang="en-US" sz="1700" b="1" i="0" kern="1200" spc="-50" baseline="0" dirty="0">
                <a:effectLst/>
                <a:latin typeface="Avenir Next LT Pro" panose="020B0504020202020204" pitchFamily="34" charset="0"/>
              </a:rPr>
              <a:t>+, -, *, **, /, %, ++, --</a:t>
            </a:r>
            <a:r>
              <a:rPr lang="en-US" sz="1700" i="0" kern="1200" spc="-50" baseline="0" dirty="0">
                <a:effectLst/>
                <a:latin typeface="Avenir Next LT Pro" panose="020B0504020202020204" pitchFamily="34" charset="0"/>
              </a:rPr>
              <a:t>),</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ii) JavaScript </a:t>
            </a:r>
            <a:r>
              <a:rPr lang="en-US" sz="1700" b="1" i="0" kern="1200" spc="-50" baseline="0" dirty="0">
                <a:effectLst/>
                <a:latin typeface="Avenir Next LT Pro" panose="020B0504020202020204" pitchFamily="34" charset="0"/>
              </a:rPr>
              <a:t>assignments</a:t>
            </a:r>
            <a:r>
              <a:rPr lang="en-US" sz="1700" i="0" kern="1200" spc="-50" baseline="0" dirty="0">
                <a:effectLst/>
                <a:latin typeface="Avenir Next LT Pro" panose="020B0504020202020204" pitchFamily="34" charset="0"/>
              </a:rPr>
              <a:t> operator: Assignment operators assign values to JavaScript variables(</a:t>
            </a:r>
            <a:r>
              <a:rPr lang="en-US" sz="1700" b="1" i="0" kern="1200" spc="-50" baseline="0" dirty="0">
                <a:effectLst/>
                <a:latin typeface="Avenir Next LT Pro" panose="020B0504020202020204" pitchFamily="34" charset="0"/>
              </a:rPr>
              <a:t>+, =</a:t>
            </a:r>
            <a:r>
              <a:rPr lang="en-US" sz="1700" i="0" kern="1200" spc="-50" baseline="0" dirty="0">
                <a:effectLst/>
                <a:latin typeface="Avenir Next LT Pro" panose="020B0504020202020204" pitchFamily="34" charset="0"/>
              </a:rPr>
              <a:t>),</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iii) JavaScript </a:t>
            </a:r>
            <a:r>
              <a:rPr lang="en-US" sz="1700" b="1" i="0" kern="1200" spc="-50" baseline="0" dirty="0">
                <a:effectLst/>
                <a:latin typeface="Avenir Next LT Pro" panose="020B0504020202020204" pitchFamily="34" charset="0"/>
              </a:rPr>
              <a:t>comparisons</a:t>
            </a:r>
            <a:r>
              <a:rPr lang="en-US" sz="1700" i="0" kern="1200" spc="-50" baseline="0" dirty="0">
                <a:effectLst/>
                <a:latin typeface="Avenir Next LT Pro" panose="020B0504020202020204" pitchFamily="34" charset="0"/>
              </a:rPr>
              <a:t> operator: comparison operator are used for compare the value of two are more variables (</a:t>
            </a:r>
            <a:r>
              <a:rPr lang="en-US" sz="1700" b="1" i="0" kern="1200" spc="-50" baseline="0" dirty="0">
                <a:effectLst/>
                <a:latin typeface="Avenir Next LT Pro" panose="020B0504020202020204" pitchFamily="34" charset="0"/>
              </a:rPr>
              <a:t>==, ===, !=, !==, &gt;, &lt;</a:t>
            </a:r>
            <a:r>
              <a:rPr lang="en-IN" sz="1700" b="1" i="0" kern="1200" spc="-50" baseline="0" dirty="0">
                <a:effectLst/>
                <a:latin typeface="Avenir Next LT Pro" panose="020B0504020202020204" pitchFamily="34" charset="0"/>
              </a:rPr>
              <a:t>, &gt;=, &lt;=, ?</a:t>
            </a:r>
            <a:r>
              <a:rPr lang="en-US" sz="1700" i="0" kern="1200" spc="-50" baseline="0" dirty="0">
                <a:effectLst/>
                <a:latin typeface="Avenir Next LT Pro" panose="020B0504020202020204" pitchFamily="34" charset="0"/>
              </a:rPr>
              <a:t>),</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iv) JavaScript </a:t>
            </a:r>
            <a:r>
              <a:rPr lang="en-US" sz="1700" b="1" i="0" kern="1200" spc="-50" baseline="0" dirty="0">
                <a:effectLst/>
                <a:latin typeface="Avenir Next LT Pro" panose="020B0504020202020204" pitchFamily="34" charset="0"/>
              </a:rPr>
              <a:t>logical</a:t>
            </a:r>
            <a:r>
              <a:rPr lang="en-US" sz="1700" i="0" kern="1200" spc="-50" baseline="0" dirty="0">
                <a:effectLst/>
                <a:latin typeface="Avenir Next LT Pro" panose="020B0504020202020204" pitchFamily="34" charset="0"/>
              </a:rPr>
              <a:t> operator: JavaScript logical operators perform logical operations (</a:t>
            </a:r>
            <a:r>
              <a:rPr lang="en-US" sz="1700" b="1" i="0" kern="1200" spc="-50" baseline="0" dirty="0">
                <a:effectLst/>
                <a:latin typeface="Avenir Next LT Pro" panose="020B0504020202020204" pitchFamily="34" charset="0"/>
              </a:rPr>
              <a:t>&amp;&amp;, ||, !</a:t>
            </a:r>
            <a:r>
              <a:rPr lang="en-US" sz="1700" i="0" kern="1200" spc="-50" baseline="0" dirty="0">
                <a:effectLst/>
                <a:latin typeface="Avenir Next LT Pro" panose="020B0504020202020204" pitchFamily="34" charset="0"/>
              </a:rPr>
              <a:t>),</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v) JavaScript </a:t>
            </a:r>
            <a:r>
              <a:rPr lang="en-US" sz="1700" b="1" i="0" kern="1200" spc="-50" baseline="0" dirty="0">
                <a:effectLst/>
                <a:latin typeface="Avenir Next LT Pro" panose="020B0504020202020204" pitchFamily="34" charset="0"/>
              </a:rPr>
              <a:t>bitwise</a:t>
            </a:r>
            <a:r>
              <a:rPr lang="en-US" sz="1700" i="0" kern="1200" spc="-50" baseline="0" dirty="0">
                <a:effectLst/>
                <a:latin typeface="Avenir Next LT Pro" panose="020B0504020202020204" pitchFamily="34" charset="0"/>
              </a:rPr>
              <a:t> operator: Any numeric operand in the operation is converted into a 32 bit number. The result is converted back to a JavaScript number (</a:t>
            </a:r>
            <a:r>
              <a:rPr lang="en-US" sz="1700" b="1" i="0" kern="1200" spc="-50" baseline="0" dirty="0">
                <a:effectLst/>
                <a:latin typeface="Avenir Next LT Pro" panose="020B0504020202020204" pitchFamily="34" charset="0"/>
              </a:rPr>
              <a:t>&amp;, |, `, ^, &lt;&lt;, &gt;&gt;, &gt;&gt;&gt;</a:t>
            </a:r>
            <a:r>
              <a:rPr lang="en-US" sz="1700" i="0" kern="1200" spc="-50" baseline="0" dirty="0">
                <a:effectLst/>
                <a:latin typeface="Avenir Next LT Pro" panose="020B0504020202020204" pitchFamily="34" charset="0"/>
              </a:rPr>
              <a:t>),</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vi) JavaScript </a:t>
            </a:r>
            <a:r>
              <a:rPr lang="en-US" sz="1700" b="1" i="0" kern="1200" spc="-50" baseline="0" dirty="0">
                <a:effectLst/>
                <a:latin typeface="Avenir Next LT Pro" panose="020B0504020202020204" pitchFamily="34" charset="0"/>
              </a:rPr>
              <a:t>ternary</a:t>
            </a:r>
            <a:r>
              <a:rPr lang="en-US" sz="1700" i="0" kern="1200" spc="-50" baseline="0" dirty="0">
                <a:effectLst/>
                <a:latin typeface="Avenir Next LT Pro" panose="020B0504020202020204" pitchFamily="34" charset="0"/>
              </a:rPr>
              <a:t> operator (</a:t>
            </a:r>
            <a:r>
              <a:rPr lang="en-US" sz="1700" b="1" i="0" kern="1200" spc="-50" baseline="0" dirty="0">
                <a:effectLst/>
                <a:latin typeface="Avenir Next LT Pro" panose="020B0504020202020204" pitchFamily="34" charset="0"/>
              </a:rPr>
              <a:t>?</a:t>
            </a:r>
            <a:r>
              <a:rPr lang="en-US" sz="1700" i="0" kern="1200" spc="-50" baseline="0" dirty="0">
                <a:effectLst/>
                <a:latin typeface="Avenir Next LT Pro" panose="020B0504020202020204" pitchFamily="34" charset="0"/>
              </a:rPr>
              <a:t>), </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vii) JavaScript </a:t>
            </a:r>
            <a:r>
              <a:rPr lang="en-US" sz="1700" b="1" i="0" kern="1200" spc="-50" baseline="0" dirty="0">
                <a:effectLst/>
                <a:latin typeface="Avenir Next LT Pro" panose="020B0504020202020204" pitchFamily="34" charset="0"/>
              </a:rPr>
              <a:t>comma</a:t>
            </a:r>
            <a:r>
              <a:rPr lang="en-US" sz="1700" i="0" kern="1200" spc="-50" baseline="0" dirty="0">
                <a:effectLst/>
                <a:latin typeface="Avenir Next LT Pro" panose="020B0504020202020204" pitchFamily="34" charset="0"/>
              </a:rPr>
              <a:t> operator (</a:t>
            </a:r>
            <a:r>
              <a:rPr lang="en-US" sz="1700" b="1" i="0" kern="1200" spc="-50" baseline="0" dirty="0">
                <a:effectLst/>
                <a:latin typeface="Avenir Next LT Pro" panose="020B0504020202020204" pitchFamily="34" charset="0"/>
              </a:rPr>
              <a:t>,</a:t>
            </a:r>
            <a:r>
              <a:rPr lang="en-US" sz="1700" i="0" kern="1200" spc="-50" baseline="0" dirty="0">
                <a:effectLst/>
                <a:latin typeface="Avenir Next LT Pro" panose="020B0504020202020204" pitchFamily="34" charset="0"/>
              </a:rPr>
              <a:t>),</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viii) JavaScript </a:t>
            </a:r>
            <a:r>
              <a:rPr lang="en-US" sz="1700" b="1" i="0" kern="1200" spc="-50" baseline="0" dirty="0">
                <a:effectLst/>
                <a:latin typeface="Avenir Next LT Pro" panose="020B0504020202020204" pitchFamily="34" charset="0"/>
              </a:rPr>
              <a:t>unary</a:t>
            </a:r>
            <a:r>
              <a:rPr lang="en-US" sz="1700" i="0" kern="1200" spc="-50" baseline="0" dirty="0">
                <a:effectLst/>
                <a:latin typeface="Avenir Next LT Pro" panose="020B0504020202020204" pitchFamily="34" charset="0"/>
              </a:rPr>
              <a:t> operator,</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ix) JavaScript </a:t>
            </a:r>
            <a:r>
              <a:rPr lang="en-US" sz="1700" b="1" i="0" kern="1200" spc="-50" baseline="0" dirty="0">
                <a:effectLst/>
                <a:latin typeface="Avenir Next LT Pro" panose="020B0504020202020204" pitchFamily="34" charset="0"/>
              </a:rPr>
              <a:t>relational</a:t>
            </a:r>
            <a:r>
              <a:rPr lang="en-US" sz="1700" i="0" kern="1200" spc="-50" baseline="0" dirty="0">
                <a:effectLst/>
                <a:latin typeface="Avenir Next LT Pro" panose="020B0504020202020204" pitchFamily="34" charset="0"/>
              </a:rPr>
              <a:t> operator,</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x) JavaScript </a:t>
            </a:r>
            <a:r>
              <a:rPr lang="en-US" sz="1700" b="1" i="0" kern="1200" spc="-50" baseline="0" dirty="0" err="1">
                <a:effectLst/>
                <a:latin typeface="Avenir Next LT Pro" panose="020B0504020202020204" pitchFamily="34" charset="0"/>
              </a:rPr>
              <a:t>bigint</a:t>
            </a:r>
            <a:r>
              <a:rPr lang="en-US" sz="1700" i="0" kern="1200" spc="-50" baseline="0" dirty="0">
                <a:effectLst/>
                <a:latin typeface="Avenir Next LT Pro" panose="020B0504020202020204" pitchFamily="34" charset="0"/>
              </a:rPr>
              <a:t> operator,</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xi) JavaScript </a:t>
            </a:r>
            <a:r>
              <a:rPr lang="en-US" sz="1700" b="1" i="0" kern="1200" spc="-50" baseline="0" dirty="0">
                <a:effectLst/>
                <a:latin typeface="Avenir Next LT Pro" panose="020B0504020202020204" pitchFamily="34" charset="0"/>
              </a:rPr>
              <a:t>string</a:t>
            </a:r>
            <a:r>
              <a:rPr lang="en-US" sz="1700" i="0" kern="1200" spc="-50" baseline="0" dirty="0">
                <a:effectLst/>
                <a:latin typeface="Avenir Next LT Pro" panose="020B0504020202020204" pitchFamily="34" charset="0"/>
              </a:rPr>
              <a:t> operator</a:t>
            </a:r>
            <a:br>
              <a:rPr lang="en-US" sz="1600" dirty="0">
                <a:latin typeface="Avenir Next LT Pro" panose="020B0504020202020204" pitchFamily="34" charset="0"/>
              </a:rPr>
            </a:br>
            <a:r>
              <a:rPr lang="en-US" sz="1600" dirty="0">
                <a:latin typeface="Avenir Next LT Pro" panose="020B0504020202020204" pitchFamily="34" charset="0"/>
              </a:rPr>
              <a:t> </a:t>
            </a:r>
            <a:br>
              <a:rPr lang="en-US" sz="1600" dirty="0">
                <a:latin typeface="Avenir Next LT Pro" panose="020B0504020202020204" pitchFamily="34" charset="0"/>
              </a:rPr>
            </a:br>
            <a:r>
              <a:rPr lang="en-US" sz="1800" dirty="0">
                <a:highlight>
                  <a:srgbClr val="FFFF00"/>
                </a:highlight>
                <a:latin typeface="Avenir Next LT Pro" panose="020B0504020202020204" pitchFamily="34" charset="0"/>
              </a:rPr>
              <a:t>Que 33. Difference between object and array in JavaScript ?</a:t>
            </a:r>
            <a:r>
              <a:rPr lang="en-US" sz="18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Arrays are used when need to collection of list of the elements of the same data type or structure. On the other hand, objects are used when grouping multiple sets of data that belong together using labels, when each property or key has its own value of the type.</a:t>
            </a:r>
            <a:br>
              <a:rPr lang="en-US" sz="16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800" i="0" kern="1200" spc="-50" baseline="0" dirty="0">
                <a:effectLst/>
                <a:highlight>
                  <a:srgbClr val="FFFF00"/>
                </a:highlight>
                <a:latin typeface="Avenir Next LT Pro" panose="020B0504020202020204" pitchFamily="34" charset="0"/>
              </a:rPr>
              <a:t>Que 34. Explain JavaScript array?</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700" i="0" kern="1200" spc="-50" baseline="0" dirty="0" err="1">
                <a:effectLst/>
                <a:latin typeface="Avenir Next LT Pro" panose="020B0504020202020204" pitchFamily="34" charset="0"/>
              </a:rPr>
              <a:t>i</a:t>
            </a:r>
            <a:r>
              <a:rPr lang="en-US" sz="1700" i="0" kern="1200" spc="-50" baseline="0" dirty="0">
                <a:effectLst/>
                <a:latin typeface="Avenir Next LT Pro" panose="020B0504020202020204" pitchFamily="34" charset="0"/>
              </a:rPr>
              <a:t>) JavaScript array s are written with square [] with brackets,</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          ii) Arrays item are separated by commas,</a:t>
            </a:r>
            <a:r>
              <a:rPr lang="en-US" sz="1600" spc="-50" dirty="0">
                <a:latin typeface="Avenir Next LT Pro" panose="020B0504020202020204" pitchFamily="34" charset="0"/>
              </a:rPr>
              <a:t> and array indexing start with 0, 1 and so on</a:t>
            </a:r>
            <a:br>
              <a:rPr lang="en-US" sz="16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800" i="0" kern="1200" spc="-50" baseline="0" dirty="0">
                <a:effectLst/>
                <a:highlight>
                  <a:srgbClr val="FFFF00"/>
                </a:highlight>
                <a:latin typeface="Avenir Next LT Pro" panose="020B0504020202020204" pitchFamily="34" charset="0"/>
              </a:rPr>
              <a:t>Que 34. Explain JavaScript Object?</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700" i="0" kern="1200" spc="-50" baseline="0" dirty="0" err="1">
                <a:effectLst/>
                <a:latin typeface="Avenir Next LT Pro" panose="020B0504020202020204" pitchFamily="34" charset="0"/>
              </a:rPr>
              <a:t>i</a:t>
            </a:r>
            <a:r>
              <a:rPr lang="en-US" sz="1700" i="0" kern="1200" spc="-50" baseline="0" dirty="0">
                <a:effectLst/>
                <a:latin typeface="Avenir Next LT Pro" panose="020B0504020202020204" pitchFamily="34" charset="0"/>
              </a:rPr>
              <a:t>) JavaScript object s are written with curly {} with brackets,</a:t>
            </a:r>
            <a:br>
              <a:rPr lang="en-US" sz="17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          ii) object item are separated by commas,</a:t>
            </a:r>
            <a:endParaRPr lang="en-IN" sz="1700" dirty="0">
              <a:latin typeface="Avenir Next LT Pro" panose="020B0504020202020204" pitchFamily="34" charset="0"/>
            </a:endParaRPr>
          </a:p>
        </p:txBody>
      </p:sp>
    </p:spTree>
    <p:extLst>
      <p:ext uri="{BB962C8B-B14F-4D97-AF65-F5344CB8AC3E}">
        <p14:creationId xmlns:p14="http://schemas.microsoft.com/office/powerpoint/2010/main" val="2372351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6E88D6F-5A4F-8384-00E5-318E4068C5FA}"/>
              </a:ext>
            </a:extLst>
          </p:cNvPr>
          <p:cNvSpPr>
            <a:spLocks noGrp="1"/>
          </p:cNvSpPr>
          <p:nvPr>
            <p:ph type="title"/>
          </p:nvPr>
        </p:nvSpPr>
        <p:spPr>
          <a:xfrm>
            <a:off x="155644" y="175099"/>
            <a:ext cx="11858016" cy="6498076"/>
          </a:xfrm>
        </p:spPr>
        <p:txBody>
          <a:bodyPr>
            <a:normAutofit/>
          </a:bodyPr>
          <a:lstStyle/>
          <a:p>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35. What is JavaScript operator?</a:t>
            </a:r>
            <a:br>
              <a:rPr lang="en-US" sz="1800" dirty="0">
                <a:latin typeface="Avenir Next LT Pro" panose="020B0504020202020204" pitchFamily="34" charset="0"/>
              </a:rPr>
            </a:br>
            <a:r>
              <a:rPr lang="en-US" sz="1700" dirty="0">
                <a:latin typeface="Avenir Next LT Pro" panose="020B0504020202020204" pitchFamily="34" charset="0"/>
              </a:rPr>
              <a:t>Ans: </a:t>
            </a:r>
            <a:r>
              <a:rPr lang="en-US" sz="1500" dirty="0">
                <a:latin typeface="Avenir Next LT Pro" panose="020B0504020202020204" pitchFamily="34" charset="0"/>
              </a:rPr>
              <a:t>JavaScript operator are special symbol used in script to perform operations on operands such as arithmetic calculations, logical comparisons or value assignments.</a:t>
            </a:r>
            <a:br>
              <a:rPr lang="en-US" sz="1600" dirty="0">
                <a:latin typeface="Avenir Next LT Pro" panose="020B0504020202020204" pitchFamily="34" charset="0"/>
              </a:rPr>
            </a:br>
            <a:r>
              <a:rPr lang="en-US" sz="1600" dirty="0">
                <a:latin typeface="Avenir Next LT Pro" panose="020B0504020202020204" pitchFamily="34" charset="0"/>
              </a:rPr>
              <a:t> </a:t>
            </a: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36. What is event?</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700" i="0" kern="1200" spc="-50" baseline="0" dirty="0" err="1">
                <a:effectLst/>
                <a:latin typeface="Avenir Next LT Pro" panose="020B0504020202020204" pitchFamily="34" charset="0"/>
              </a:rPr>
              <a:t>i</a:t>
            </a:r>
            <a:r>
              <a:rPr lang="en-US" sz="1700" i="0" kern="1200" spc="-50" baseline="0" dirty="0">
                <a:effectLst/>
                <a:latin typeface="Avenir Next LT Pro" panose="020B0504020202020204" pitchFamily="34" charset="0"/>
              </a:rPr>
              <a:t>) </a:t>
            </a:r>
            <a:r>
              <a:rPr lang="en-US" sz="1500" i="0" kern="1200" spc="-50" baseline="0" dirty="0">
                <a:effectLst/>
                <a:latin typeface="Avenir Next LT Pro" panose="020B0504020202020204" pitchFamily="34" charset="0"/>
              </a:rPr>
              <a:t>An event is an action that occurs as per the user’s instruction as input and gives the output in response called event.</a:t>
            </a:r>
            <a:br>
              <a:rPr lang="en-US" sz="1600" dirty="0">
                <a:latin typeface="Avenir Next LT Pro" panose="020B0504020202020204" pitchFamily="34" charset="0"/>
              </a:rPr>
            </a:br>
            <a:r>
              <a:rPr lang="en-US" sz="1600" dirty="0">
                <a:latin typeface="Avenir Next LT Pro" panose="020B0504020202020204" pitchFamily="34" charset="0"/>
              </a:rPr>
              <a:t> </a:t>
            </a:r>
            <a:br>
              <a:rPr lang="en-US" sz="1600" dirty="0">
                <a:latin typeface="Avenir Next LT Pro" panose="020B0504020202020204" pitchFamily="34" charset="0"/>
              </a:rPr>
            </a:br>
            <a:r>
              <a:rPr lang="en-US" sz="1600" dirty="0">
                <a:highlight>
                  <a:srgbClr val="FFFF00"/>
                </a:highlight>
                <a:latin typeface="Avenir Next LT Pro" panose="020B0504020202020204" pitchFamily="34" charset="0"/>
              </a:rPr>
              <a:t>Que 33. Difference between object and array in JavaScript ?</a:t>
            </a:r>
            <a:r>
              <a:rPr lang="en-US" sz="1600" i="0" kern="1200" spc="-50" baseline="0" dirty="0">
                <a:effectLst/>
                <a:latin typeface="Avenir Next LT Pro" panose="020B0504020202020204" pitchFamily="34" charset="0"/>
              </a:rPr>
              <a:t> </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500" i="0" kern="1200" spc="-50" baseline="0" dirty="0">
                <a:effectLst/>
                <a:latin typeface="Avenir Next LT Pro" panose="020B0504020202020204" pitchFamily="34" charset="0"/>
              </a:rPr>
              <a:t>Arrays are used when need to collection of list of the elements of the same data type or structure. On the other hand, objects are used when grouping multiple sets of data that belong together using labels, when each property or key has its own value of the type.</a:t>
            </a:r>
            <a:br>
              <a:rPr lang="en-US" sz="16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34. Explain JavaScript array?</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700" i="0" kern="1200" spc="-50" baseline="0" dirty="0" err="1">
                <a:effectLst/>
                <a:latin typeface="Avenir Next LT Pro" panose="020B0504020202020204" pitchFamily="34" charset="0"/>
              </a:rPr>
              <a:t>i</a:t>
            </a:r>
            <a:r>
              <a:rPr lang="en-US" sz="1500" i="0" kern="1200" spc="-50" baseline="0" dirty="0">
                <a:effectLst/>
                <a:latin typeface="Avenir Next LT Pro" panose="020B0504020202020204" pitchFamily="34" charset="0"/>
              </a:rPr>
              <a:t>) JavaScript array s are written with square [] with brackets,</a:t>
            </a:r>
            <a:br>
              <a:rPr lang="en-US" sz="1500" i="0" kern="1200" spc="-50" baseline="0" dirty="0">
                <a:effectLst/>
                <a:latin typeface="Avenir Next LT Pro" panose="020B0504020202020204" pitchFamily="34" charset="0"/>
              </a:rPr>
            </a:br>
            <a:r>
              <a:rPr lang="en-US" sz="1500" i="0" kern="1200" spc="-50" baseline="0" dirty="0">
                <a:effectLst/>
                <a:latin typeface="Avenir Next LT Pro" panose="020B0504020202020204" pitchFamily="34" charset="0"/>
              </a:rPr>
              <a:t>          ii) Arrays item are separated by commas,</a:t>
            </a:r>
            <a:r>
              <a:rPr lang="en-US" sz="1500" spc="-50" dirty="0">
                <a:latin typeface="Avenir Next LT Pro" panose="020B0504020202020204" pitchFamily="34" charset="0"/>
              </a:rPr>
              <a:t> and array indexing start with 0, 1 and so on</a:t>
            </a:r>
            <a:br>
              <a:rPr lang="en-US" sz="1600" spc="-50" dirty="0">
                <a:latin typeface="Avenir Next LT Pro" panose="020B0504020202020204" pitchFamily="34" charset="0"/>
              </a:rPr>
            </a:br>
            <a:br>
              <a:rPr lang="en-US" sz="1600" i="0" kern="1200" spc="-50" baseline="0" dirty="0">
                <a:effectLst/>
                <a:latin typeface="Avenir Next LT Pro" panose="020B0504020202020204" pitchFamily="34" charset="0"/>
              </a:rPr>
            </a:br>
            <a:r>
              <a:rPr lang="en-US" sz="1600" i="0" kern="1200" spc="-50" baseline="0" dirty="0">
                <a:effectLst/>
                <a:highlight>
                  <a:srgbClr val="FFFF00"/>
                </a:highlight>
                <a:latin typeface="Avenir Next LT Pro" panose="020B0504020202020204" pitchFamily="34" charset="0"/>
              </a:rPr>
              <a:t>Que 34. Explain JavaScript Object?</a:t>
            </a:r>
            <a:br>
              <a:rPr lang="en-US" sz="1600" i="0" kern="1200" spc="-50" baseline="0" dirty="0">
                <a:effectLst/>
                <a:latin typeface="Avenir Next LT Pro" panose="020B0504020202020204" pitchFamily="34" charset="0"/>
              </a:rPr>
            </a:br>
            <a:r>
              <a:rPr lang="en-US" sz="1700" i="0" kern="1200" spc="-50" baseline="0" dirty="0">
                <a:effectLst/>
                <a:latin typeface="Avenir Next LT Pro" panose="020B0504020202020204" pitchFamily="34" charset="0"/>
              </a:rPr>
              <a:t>Ans: </a:t>
            </a:r>
            <a:r>
              <a:rPr lang="en-US" sz="1700" i="0" kern="1200" spc="-50" baseline="0" dirty="0" err="1">
                <a:effectLst/>
                <a:latin typeface="Avenir Next LT Pro" panose="020B0504020202020204" pitchFamily="34" charset="0"/>
              </a:rPr>
              <a:t>i</a:t>
            </a:r>
            <a:r>
              <a:rPr lang="en-US" sz="1500" i="0" kern="1200" spc="-50" baseline="0" dirty="0">
                <a:effectLst/>
                <a:latin typeface="Avenir Next LT Pro" panose="020B0504020202020204" pitchFamily="34" charset="0"/>
              </a:rPr>
              <a:t>) JavaScript object s are written with curly {} with brackets,</a:t>
            </a:r>
            <a:br>
              <a:rPr lang="en-US" sz="1500" i="0" kern="1200" spc="-50" baseline="0" dirty="0">
                <a:effectLst/>
                <a:latin typeface="Avenir Next LT Pro" panose="020B0504020202020204" pitchFamily="34" charset="0"/>
              </a:rPr>
            </a:br>
            <a:r>
              <a:rPr lang="en-US" sz="1500" i="0" kern="1200" spc="-50" baseline="0" dirty="0">
                <a:effectLst/>
                <a:latin typeface="Avenir Next LT Pro" panose="020B0504020202020204" pitchFamily="34" charset="0"/>
              </a:rPr>
              <a:t>          ii) object item are separated by commas</a:t>
            </a:r>
            <a:r>
              <a:rPr lang="en-US" sz="1700" i="0" kern="1200" spc="-50" baseline="0" dirty="0">
                <a:effectLst/>
                <a:latin typeface="Avenir Next LT Pro" panose="020B0504020202020204" pitchFamily="34" charset="0"/>
              </a:rPr>
              <a:t>,</a:t>
            </a:r>
            <a:endParaRPr lang="en-IN" sz="1700" dirty="0">
              <a:latin typeface="Avenir Next LT Pro" panose="020B0504020202020204" pitchFamily="34" charset="0"/>
            </a:endParaRPr>
          </a:p>
        </p:txBody>
      </p:sp>
    </p:spTree>
    <p:extLst>
      <p:ext uri="{BB962C8B-B14F-4D97-AF65-F5344CB8AC3E}">
        <p14:creationId xmlns:p14="http://schemas.microsoft.com/office/powerpoint/2010/main" val="2173513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860</TotalTime>
  <Words>1982</Words>
  <Application>Microsoft Office PowerPoint</Application>
  <PresentationFormat>Widescreen</PresentationFormat>
  <Paragraphs>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Avenir Next LT Pro</vt:lpstr>
      <vt:lpstr>Office Theme</vt:lpstr>
      <vt:lpstr>Interview Practice</vt:lpstr>
      <vt:lpstr> Que 1. Tell about your self? Ans: sure I’d be happy to introduce my self, my name is mohit I am a frontend developer at valethi technologies at the date of 6th December 2021 to till date and working on HTML, CSS, JavaScript, jQuery, Bootstrap, Material UI, and react js. I have well knowledge in frontend developer and responsive web design  thanks .  Que 2. What is HTML? Ans: HTML is a Hyper text markup language it used for creating a web pages.   Que 3. What is Semantic elements in HTML? Ans: Semantic tag is used to define the meaning of the content  they contain (like header, footer, section, p, table and like this.)  Que 4. What is non semantic elements in HTML ? Ans: HTML tags that do not have specific meaning (like div, span, p and like this.)  Que 5. Difference between div and span? Ans: In HTML, the div and span tags are used for structuring and styling content div create block level container for grouping element, while span create inline container for styling specific portions of text or elements within a block level container  Que 6. What is attribute in HTML? Ans: Attribute provide additional information about HTML element (like src, href, style, for and like this)   Que 7. How many type of attribute in HTML? Ans: HTML attribute are generally classified as required attribute, optional attribute,  standard attribute and event attribute.   Que 8. Difference between div and span? Ans: DOCTYPE declaration is an instruction to the web browser about the what version of HTML the page is written.</vt:lpstr>
      <vt:lpstr> Que 9. Tell about your self? Ans: The HTML document type declaration, also know as DOCTYPE, is the first line of code required in every HTML or XHTML document  Que 10. What is head element in HTML? Ans: The head tag is an HTML element use to define the head section  of an HTML document. The head section contains metadata, which simply means data about.  Que 11. What is CSS? Ans: CSS is a  language we use to style a web page. CSS stand for cascading style sheets  Que 12. Why we use CSS? Ans: CSS is used to define the styles for your web page, including the design, layout and variations is display for different devices and screen size.  Que 13. What is CSS flexbox layout? Ans: CSS flexbox layout is a one-dimensional layout method for arranging items within a container along a single direction (row or column)  Que 14. What is the difference between display inline and display inline block? Ans: I) Display Inline           i) We cannot change the with and height of the element            ii) It can have padding and margin in the horizontal direction, but it done not respect margin and padding in vertical direction.           Iii) It cannot have a child block element.           II) Display inline block           i) WE can change the width and height of the element           ii) It can have padding and margin in all four directions and it respect all directions.           Iii) It can have a child block elements  </vt:lpstr>
      <vt:lpstr> Que 15. How many types of position in CSS? Ans: There is a five types of position in CSS( static, relative, absolute, fixed and sticky)  Que 16. What is the difference between in position properties?  Ans: i) Relative: The element is positioned relative to the normal position.           ii) Absolute: The element positioned absolutely to its first positioned parent.            iii) Fixed: The element is positioned related to the browser window.           iv) Sticky: The element is positioned based on user scroll position.           v) Static: It’s a default position.  Que 17. What is pseudo elements in CSS? Ans: A pseudo element is use for the styling specified parts of the element (like first letter, first line or first element)  Que 18. What is pseudo selector in CSS? Ans: CSS pseudo selector are used for add style to selector, but only those selectors meet certain conditions.(like focus, hover, active like this)  Que 19. What is media query in CSS? Ans: Media allow you to apply CSS styles for depending on the device media type and apply style for different screen size.  Que 20. What is JavaScript?  Ans: JavaScript is a scripting and programing language that allows you to implement complex features on web pages.   Que 21. How many types of variables in JavaScript?  Ans: There is a three types of variable in JavaScript first is var second one is let and third one is const.   Que 22. How many types of scope in JavaScript?  Ans: There is a mainly four type of scope in JavaScript i) Block Scope, ii) Function Scope, iii) Local Scope, iv) Global Scope.</vt:lpstr>
      <vt:lpstr> Que 23. What is block scope in JavaScript? Ans: Variable that are declared inside the block {} cannot be access from the outside the block.   Que 24. What is function scope in JavaScript?  Ans:  Variable that are declared  inside the function and are not accessible from outside the function called function scope   Que 25. What is global scope in JavaScript?  Ans:  Variable that are declared outside the function or block and it's accessed from anywhere in the program.  Que 26. How any types of datatypes in JavaScript? Ans: In JavaScript there is a mainly two types of datatypes i) Primitive(predefined) datatype and second one is ii) Non-Primitive datatype  or complex   Que 27. How many types of primitive datatype? Ans: The predefined datatypes provide by JavaScript language are know as primitive datatype Primitive datatypes are also known as in-built datatypes.                  i) Number, string, Boolean, null, undefined, symbol, bigint there in a seven types of primitive datatype.  Que 28. How many types of non-primitive datatype?  Ans: The datatype that are obtained from primitive datatype of the JavaScript language are know as non-primitive datatypes.                   Example: Object.    Que 29. What is array in JavaScript? Ans: JavaScript array is a data structure that allows you to store and organize multiple vales within a single variable.  QUE 30. What is object in JavaScript? Ans: In JavaScript, an object is a standalone entity, with properties and type. Compare it with a cup, for example. A cup is an object, with properties. A cup has a color, a design, weight, a material it is made of, etc. The same way, JavaScript objects can have properties, which define their characteristics. </vt:lpstr>
      <vt:lpstr> Que 31. What is JavaScript operator? Ans: JavaScript operator are special symbol used in script to perform operations on operands such as arithmetic calculations, logical comparisons or value assignments.   Que 32. Explain the types of JavaScript operator?  Ans:  i) JavaScript arithmetic operator: Arithmetic Operators are used to perform arithmetic on numbers (+, -, *, **, /, %, ++, --), ii) JavaScript assignments operator: Assignment operators assign values to JavaScript variables(+, =), iii) JavaScript comparisons operator: comparison operator are used for compare the value of two are more variables (==, ===, !=, !==, &gt;, &lt;, &gt;=, &lt;=, ?), iv) JavaScript logical operator: JavaScript logical operators perform logical operations (&amp;&amp;, ||, !), v) JavaScript bitwise operator: Any numeric operand in the operation is converted into a 32 bit number. The result is converted back to a JavaScript number (&amp;, |, `, ^, &lt;&lt;, &gt;&gt;, &gt;&gt;&gt;), vi) JavaScript ternary operator (?),  vii) JavaScript comma operator (,), viii) JavaScript unary operator, ix) JavaScript relational operator, x) JavaScript bigint operator, xi) JavaScript string operator   Que 33. Difference between object and array in JavaScript ?  Ans:  Arrays are used when need to collection of list of the elements of the same data type or structure. On the other hand, objects are used when grouping multiple sets of data that belong together using labels, when each property or key has its own value of the type.  Que 34. Explain JavaScript array? Ans: i) JavaScript array s are written with square [] with brackets,           ii) Arrays item are separated by commas, and array indexing start with 0, 1 and so on  Que 34. Explain JavaScript Object? Ans: i) JavaScript object s are written with curly {} with brackets,           ii) object item are separated by commas,</vt:lpstr>
      <vt:lpstr> Que 35. What is JavaScript operator? Ans: JavaScript operator are special symbol used in script to perform operations on operands such as arithmetic calculations, logical comparisons or value assignments.   Que 36. What is event?  Ans:  i) An event is an action that occurs as per the user’s instruction as input and gives the output in response called event.   Que 33. Difference between object and array in JavaScript ?  Ans:  Arrays are used when need to collection of list of the elements of the same data type or structure. On the other hand, objects are used when grouping multiple sets of data that belong together using labels, when each property or key has its own value of the type.  Que 34. Explain JavaScript array? Ans: i) JavaScript array s are written with square [] with brackets,           ii) Arrays item are separated by commas, and array indexing start with 0, 1 and so on  Que 34. Explain JavaScript Object? Ans: i) JavaScript object s are written with curly {} with brackets,           ii) object item are separated by commas,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Practice</dc:title>
  <dc:creator>Mohit Hatzade</dc:creator>
  <cp:lastModifiedBy>Mohit Hatzade</cp:lastModifiedBy>
  <cp:revision>6</cp:revision>
  <dcterms:created xsi:type="dcterms:W3CDTF">2024-05-23T06:45:07Z</dcterms:created>
  <dcterms:modified xsi:type="dcterms:W3CDTF">2024-05-26T07:34:55Z</dcterms:modified>
</cp:coreProperties>
</file>